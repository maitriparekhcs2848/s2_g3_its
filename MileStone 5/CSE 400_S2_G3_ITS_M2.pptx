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chemeClr val="dk1"/>
                </a:solidFill>
              </a:rPr>
              <a:t>In the randomized approach, we use the Estimation of Distribution Algorithm. We start by generating an initial population of routes randomly. Each route is evaluated based on a cost function. We then select the best-performing routes from this population. Using these, we build a probability model that captures good patterns. New routes are generated by sampling from this model. This process is repeated iteratively to improve solutions. Over time, the algorithm converges to better routes. This makes EDA more adaptive compared to deterministic methods. → Transition: Let’s now see how we implemented this in code</a:t>
            </a:r>
            <a:endParaRPr/>
          </a:p>
        </p:txBody>
      </p:sp>
      <p:sp>
        <p:nvSpPr>
          <p:cNvPr id="145" name="Google Shape;14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chemeClr val="dk1"/>
                </a:solidFill>
              </a:rPr>
              <a:t>We implemented the deterministic algorithms using Python. We first computed distances between all stops. Then, we generated routes using Nearest Neighbour and Clarke-Wright. 4 After constructing routes, we calculated total travel distance. To incorporate realism, we modeled traffic speed using a lognormal distribution. This allows travel time to vary across simulations. We then computed travel time as distance divided by speed. This setup allowed us to compare deterministic and probabilistic methods. It also served as a baseline for performance evaluation. → Transition: Now let’s look at the implementation of the randomized approach. </a:t>
            </a:r>
            <a:endParaRPr/>
          </a:p>
        </p:txBody>
      </p:sp>
      <p:sp>
        <p:nvSpPr>
          <p:cNvPr id="154" name="Google Shape;15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US"/>
              <a:t>In the EDA implementation, we generated multiple candidate routes. Each route was evaluated based on expected travel time. We selected the best routes and used them to build a probability matrix. This matrix represents the likelihood of connections between stops. We then sampled new routes using this matrix. This process was repeated for several iterations. We also used Monte Carlo simulation to run multiple trials. This helped us capture variability in outcomes. Overall, this approach allows continuous improvement of routes. → Transition: Based on this, we can now compare the approaches</a:t>
            </a:r>
            <a:endParaRPr/>
          </a:p>
        </p:txBody>
      </p:sp>
      <p:sp>
        <p:nvSpPr>
          <p:cNvPr id="168" name="Google Shape;16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Deterministic methods generate fixed routes and ignore uncertainty. They are fast but not suitable for dynamic environments. Stochastic modeling incorporates randomness in demand and traffic. 5 This makes the system more realistic. EDA improves solutions iteratively by learning patterns. It performs better in complex and large-scale problems. Monte Carlo simulation helps validate results statistically. However, these improvements come with higher computational cost. This highlights a trade-off between efficiency and accuracy. → Transition: Now let’s look at the results of our experiments. </a:t>
            </a:r>
            <a:endParaRPr/>
          </a:p>
        </p:txBody>
      </p:sp>
      <p:sp>
        <p:nvSpPr>
          <p:cNvPr id="178" name="Google Shape;17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Now let's look at what the algorithms actually produce when we visualize the routes they generate.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Starting with NN Nearest Neighbour — you can see from the left plot that the path is quite irregular and inefficient. That's a direct consequence of how the algorithm works: it makes the locally optimal decision at every step, always picking the closest unvisited stop. But this greedy behavior doesn't account for the global picture, so you end up with routes that backtrack and cross over themselves.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CW Clarke-Wright improves on this by using a savings-based approach — it starts with separate routes and merges them when doing so saves distance. The middle visualization shows a much cleaner structure. It's a solid deterministic heuristic, but it still doesn't model uncertainty. If travel times fluctuate, it can't adapt.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EDA EDA, the Estimation of Distribution Algorithm, gives us the best result. It builds a probabilistic model of what good routes look like and iteratively refines it — so it's not just optimizing for one scenario, it's optimizing across the distribution of possible conditions. The routes it produces are clearly the most structured and efficient, as you can see in the right-hand plot.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This comparison really highlights why probabilistic approaches matter for real-world routing — deterministic methods can only take you so far.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"Now that we've seen the route quality, let's back it up with numbers — moving to the performance graphs." </a:t>
            </a:r>
            <a:endParaRPr/>
          </a:p>
          <a:p>
            <a:pPr indent="0" lvl="0" marL="0" rtl="0" algn="l">
              <a:spcBef>
                <a:spcPts val="0"/>
              </a:spcBef>
              <a:spcAft>
                <a:spcPts val="0"/>
              </a:spcAft>
              <a:buNone/>
            </a:pPr>
            <a:r>
              <a:t/>
            </a:r>
            <a:endParaRPr/>
          </a:p>
        </p:txBody>
      </p:sp>
      <p:sp>
        <p:nvSpPr>
          <p:cNvPr id="185" name="Google Shape;18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 The graphs here give us a quantitative view of what we saw visually in the routes.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Line chart On the left, we're comparing mean travel time as the number of stops scales up — from 5 stops all the way to 80. At lower stop counts, the three methods perform similarly. But as the network grows, the gap becomes increasingly clear. EDA consistently achieves the lowest travel time, and that gap with Nearest Neighbour especially widens as complexity increases. This tells us that EDA doesn't just perform better in controlled settings — it scales better, which is critical for real-world school bus networks that can have dozens of stops.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PDF The probability density function on the upper right shows the distribution of total distances across simulations. EDA's distribution is tighter and shifted left — meaning it not only achieves lower distances on average, but it does so more consistently. Nearest Neighbour has a wider spread, which reflects its unpredictability.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CDF The cumulative distribution function at the bottom reinforces this — EDA's curve rises steeply at lower distance values, meaning it reaches high cumulative probability much faster. In practical terms, this means EDA is far more reliable at keeping routes short across varied conditions.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Together, these results validate that EDA is not just marginally better — it's structurally superior for this class of stochastic routing problems.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"Beyond simulation, we also used classical probabilistic theory to formally bound delay risk — specifically Markov's Inequality."     </a:t>
            </a:r>
            <a:endParaRPr/>
          </a:p>
          <a:p>
            <a:pPr indent="0" lvl="0" marL="0" rtl="0" algn="l">
              <a:spcBef>
                <a:spcPts val="0"/>
              </a:spcBef>
              <a:spcAft>
                <a:spcPts val="0"/>
              </a:spcAft>
              <a:buNone/>
            </a:pPr>
            <a:r>
              <a:t/>
            </a:r>
            <a:endParaRPr/>
          </a:p>
        </p:txBody>
      </p:sp>
      <p:sp>
        <p:nvSpPr>
          <p:cNvPr id="198" name="Google Shape;19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The Markov Inequality is a fundamental result in probability theory, and we use it here as a tool for delay analysis in our routing system.</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 inequality states that for any non-negative random variable X and any positive threshold a, the probability that X exceeds a is at most the expected value of X divided by a. In our context, X represents travel time and a is some threshold we're concerned about — say, a significantly delayed arrival.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What makes Markov's Inequality powerful for our use case is its generality. It requires only that we know the expected travel time — we don't need to know the full distribution of delays, which in practice is very difficult to characterize accurately. This makes it highly applicable in uncertain, real-world environments like school bus operations.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Using this, we can compute an upper bound on the probability that travel time will exceed a critical threshold. For instance, if the expected travel time for a route is 20 minutes and we want to know the risk of it exceeding 40 minutes, Markov directly gives us a bound.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Now, it's worth noting that this bound is conservative — Markov doesn't use information about variance or higher-order moments, so it can overestimate risk. But for worst-case analysis and risk quantification, that's actually acceptable. It gives us a safety guarantee.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"To get tighter, more precise bounds on delay probability we use another inequality."</a:t>
            </a:r>
            <a:endParaRPr/>
          </a:p>
          <a:p>
            <a:pPr indent="0" lvl="0" marL="0" rtl="0" algn="l">
              <a:spcBef>
                <a:spcPts val="0"/>
              </a:spcBef>
              <a:spcAft>
                <a:spcPts val="0"/>
              </a:spcAft>
              <a:buNone/>
            </a:pPr>
            <a:r>
              <a:t/>
            </a:r>
            <a:endParaRPr/>
          </a:p>
        </p:txBody>
      </p:sp>
      <p:sp>
        <p:nvSpPr>
          <p:cNvPr id="210" name="Google Shape;21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7.png"/><Relationship Id="rId10" Type="http://schemas.openxmlformats.org/officeDocument/2006/relationships/image" Target="../media/image9.png"/><Relationship Id="rId9" Type="http://schemas.openxmlformats.org/officeDocument/2006/relationships/image" Target="../media/image3.png"/><Relationship Id="rId5" Type="http://schemas.openxmlformats.org/officeDocument/2006/relationships/image" Target="../media/image11.png"/><Relationship Id="rId6" Type="http://schemas.openxmlformats.org/officeDocument/2006/relationships/image" Target="../media/image4.png"/><Relationship Id="rId7" Type="http://schemas.openxmlformats.org/officeDocument/2006/relationships/image" Target="../media/image17.png"/><Relationship Id="rId8"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2.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22.png"/><Relationship Id="rId5" Type="http://schemas.openxmlformats.org/officeDocument/2006/relationships/image" Target="../media/image2.png"/><Relationship Id="rId6"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25.png"/><Relationship Id="rId6" Type="http://schemas.openxmlformats.org/officeDocument/2006/relationships/image" Target="../media/image16.png"/><Relationship Id="rId7"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19.png"/><Relationship Id="rId6" Type="http://schemas.openxmlformats.org/officeDocument/2006/relationships/image" Target="../media/image21.png"/><Relationship Id="rId7"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83" name="Shape 83"/>
        <p:cNvGrpSpPr/>
        <p:nvPr/>
      </p:nvGrpSpPr>
      <p:grpSpPr>
        <a:xfrm>
          <a:off x="0" y="0"/>
          <a:ext cx="0" cy="0"/>
          <a:chOff x="0" y="0"/>
          <a:chExt cx="0" cy="0"/>
        </a:xfrm>
      </p:grpSpPr>
      <p:sp>
        <p:nvSpPr>
          <p:cNvPr id="84" name="Google Shape;84;p13"/>
          <p:cNvSpPr/>
          <p:nvPr/>
        </p:nvSpPr>
        <p:spPr>
          <a:xfrm>
            <a:off x="0" y="10134600"/>
            <a:ext cx="18288000" cy="152400"/>
          </a:xfrm>
          <a:custGeom>
            <a:rect b="b" l="l" r="r" t="t"/>
            <a:pathLst>
              <a:path extrusionOk="0" h="203200" w="24384000">
                <a:moveTo>
                  <a:pt x="0" y="0"/>
                </a:moveTo>
                <a:lnTo>
                  <a:pt x="24384000" y="0"/>
                </a:lnTo>
                <a:lnTo>
                  <a:pt x="24384000" y="203200"/>
                </a:lnTo>
                <a:lnTo>
                  <a:pt x="0" y="203200"/>
                </a:lnTo>
                <a:lnTo>
                  <a:pt x="0" y="0"/>
                </a:lnTo>
                <a:close/>
              </a:path>
            </a:pathLst>
          </a:custGeom>
          <a:blipFill rotWithShape="1">
            <a:blip r:embed="rId3">
              <a:alphaModFix/>
            </a:blip>
            <a:stretch>
              <a:fillRect b="0" l="0" r="0" t="0"/>
            </a:stretch>
          </a:blipFill>
          <a:ln>
            <a:noFill/>
          </a:ln>
        </p:spPr>
      </p:sp>
      <p:sp>
        <p:nvSpPr>
          <p:cNvPr id="85" name="Google Shape;85;p13"/>
          <p:cNvSpPr/>
          <p:nvPr/>
        </p:nvSpPr>
        <p:spPr>
          <a:xfrm>
            <a:off x="13071389" y="318627"/>
            <a:ext cx="4949669" cy="1680545"/>
          </a:xfrm>
          <a:custGeom>
            <a:rect b="b" l="l" r="r" t="t"/>
            <a:pathLst>
              <a:path extrusionOk="0" h="2666492" w="7853553">
                <a:moveTo>
                  <a:pt x="0" y="0"/>
                </a:moveTo>
                <a:lnTo>
                  <a:pt x="7853553" y="0"/>
                </a:lnTo>
                <a:lnTo>
                  <a:pt x="7853553" y="2666492"/>
                </a:lnTo>
                <a:lnTo>
                  <a:pt x="0" y="2666492"/>
                </a:lnTo>
                <a:lnTo>
                  <a:pt x="0" y="0"/>
                </a:lnTo>
                <a:close/>
              </a:path>
            </a:pathLst>
          </a:custGeom>
          <a:blipFill rotWithShape="1">
            <a:blip r:embed="rId4">
              <a:alphaModFix/>
            </a:blip>
            <a:stretch>
              <a:fillRect b="-265578" l="-89001" r="-89248" t="-264859"/>
            </a:stretch>
          </a:blipFill>
          <a:ln>
            <a:noFill/>
          </a:ln>
        </p:spPr>
      </p:sp>
      <p:sp>
        <p:nvSpPr>
          <p:cNvPr id="86" name="Google Shape;86;p13"/>
          <p:cNvSpPr txBox="1"/>
          <p:nvPr/>
        </p:nvSpPr>
        <p:spPr>
          <a:xfrm>
            <a:off x="12916445" y="6797250"/>
            <a:ext cx="5259600" cy="2970900"/>
          </a:xfrm>
          <a:prstGeom prst="rect">
            <a:avLst/>
          </a:prstGeom>
          <a:noFill/>
          <a:ln>
            <a:noFill/>
          </a:ln>
        </p:spPr>
        <p:txBody>
          <a:bodyPr anchorCtr="0" anchor="t" bIns="0" lIns="0" spcFirstLastPara="1" rIns="0" wrap="square" tIns="0">
            <a:spAutoFit/>
          </a:bodyPr>
          <a:lstStyle/>
          <a:p>
            <a:pPr indent="0" lvl="0" marL="0" marR="0" rtl="0" algn="r">
              <a:lnSpc>
                <a:spcPct val="120021"/>
              </a:lnSpc>
              <a:spcBef>
                <a:spcPts val="0"/>
              </a:spcBef>
              <a:spcAft>
                <a:spcPts val="0"/>
              </a:spcAft>
              <a:buNone/>
            </a:pPr>
            <a:r>
              <a:rPr b="0" i="0" lang="en-US" sz="2757" u="none" cap="none" strike="noStrike">
                <a:solidFill>
                  <a:srgbClr val="000000"/>
                </a:solidFill>
                <a:latin typeface="Times New Roman"/>
                <a:ea typeface="Times New Roman"/>
                <a:cs typeface="Times New Roman"/>
                <a:sym typeface="Times New Roman"/>
              </a:rPr>
              <a:t>Group3 </a:t>
            </a:r>
            <a:endParaRPr/>
          </a:p>
          <a:p>
            <a:pPr indent="0" lvl="0" marL="0" marR="0" rtl="0" algn="r">
              <a:lnSpc>
                <a:spcPct val="120021"/>
              </a:lnSpc>
              <a:spcBef>
                <a:spcPts val="0"/>
              </a:spcBef>
              <a:spcAft>
                <a:spcPts val="0"/>
              </a:spcAft>
              <a:buNone/>
            </a:pPr>
            <a:r>
              <a:rPr b="0" i="0" lang="en-US" sz="2757" u="none" cap="none" strike="noStrike">
                <a:solidFill>
                  <a:srgbClr val="000000"/>
                </a:solidFill>
                <a:latin typeface="Times New Roman"/>
                <a:ea typeface="Times New Roman"/>
                <a:cs typeface="Times New Roman"/>
                <a:sym typeface="Times New Roman"/>
              </a:rPr>
              <a:t>Pratyusha Sharma (AU2440012) </a:t>
            </a:r>
            <a:endParaRPr/>
          </a:p>
          <a:p>
            <a:pPr indent="0" lvl="0" marL="0" marR="0" rtl="0" algn="r">
              <a:lnSpc>
                <a:spcPct val="120021"/>
              </a:lnSpc>
              <a:spcBef>
                <a:spcPts val="0"/>
              </a:spcBef>
              <a:spcAft>
                <a:spcPts val="0"/>
              </a:spcAft>
              <a:buNone/>
            </a:pPr>
            <a:r>
              <a:rPr b="0" i="0" lang="en-US" sz="2757" u="none" cap="none" strike="noStrike">
                <a:solidFill>
                  <a:srgbClr val="000000"/>
                </a:solidFill>
                <a:latin typeface="Times New Roman"/>
                <a:ea typeface="Times New Roman"/>
                <a:cs typeface="Times New Roman"/>
                <a:sym typeface="Times New Roman"/>
              </a:rPr>
              <a:t>Maitri Parekh (AU2440008)</a:t>
            </a:r>
            <a:endParaRPr/>
          </a:p>
          <a:p>
            <a:pPr indent="0" lvl="0" marL="0" marR="0" rtl="0" algn="r">
              <a:lnSpc>
                <a:spcPct val="120021"/>
              </a:lnSpc>
              <a:spcBef>
                <a:spcPts val="0"/>
              </a:spcBef>
              <a:spcAft>
                <a:spcPts val="0"/>
              </a:spcAft>
              <a:buNone/>
            </a:pPr>
            <a:r>
              <a:rPr b="0" i="0" lang="en-US" sz="2757" u="none" cap="none" strike="noStrike">
                <a:solidFill>
                  <a:srgbClr val="000000"/>
                </a:solidFill>
                <a:latin typeface="Times New Roman"/>
                <a:ea typeface="Times New Roman"/>
                <a:cs typeface="Times New Roman"/>
                <a:sym typeface="Times New Roman"/>
              </a:rPr>
              <a:t>Virja Shah (AU2440036)</a:t>
            </a:r>
            <a:endParaRPr/>
          </a:p>
          <a:p>
            <a:pPr indent="0" lvl="0" marL="0" marR="0" rtl="0" algn="r">
              <a:lnSpc>
                <a:spcPct val="120021"/>
              </a:lnSpc>
              <a:spcBef>
                <a:spcPts val="0"/>
              </a:spcBef>
              <a:spcAft>
                <a:spcPts val="0"/>
              </a:spcAft>
              <a:buNone/>
            </a:pPr>
            <a:r>
              <a:rPr b="0" i="0" lang="en-US" sz="2757" u="none" cap="none" strike="noStrike">
                <a:solidFill>
                  <a:srgbClr val="000000"/>
                </a:solidFill>
                <a:latin typeface="Times New Roman"/>
                <a:ea typeface="Times New Roman"/>
                <a:cs typeface="Times New Roman"/>
                <a:sym typeface="Times New Roman"/>
              </a:rPr>
              <a:t>Aryan Thakkar (AU2440248)</a:t>
            </a:r>
            <a:endParaRPr/>
          </a:p>
          <a:p>
            <a:pPr indent="0" lvl="0" marL="0" marR="0" rtl="0" algn="r">
              <a:lnSpc>
                <a:spcPct val="120021"/>
              </a:lnSpc>
              <a:spcBef>
                <a:spcPts val="0"/>
              </a:spcBef>
              <a:spcAft>
                <a:spcPts val="0"/>
              </a:spcAft>
              <a:buNone/>
            </a:pPr>
            <a:r>
              <a:rPr b="0" i="0" lang="en-US" sz="2757" u="none" cap="none" strike="noStrike">
                <a:solidFill>
                  <a:srgbClr val="000000"/>
                </a:solidFill>
                <a:latin typeface="Times New Roman"/>
                <a:ea typeface="Times New Roman"/>
                <a:cs typeface="Times New Roman"/>
                <a:sym typeface="Times New Roman"/>
              </a:rPr>
              <a:t>Saumya Shah (AU2440274)</a:t>
            </a:r>
            <a:endParaRPr/>
          </a:p>
        </p:txBody>
      </p:sp>
      <p:sp>
        <p:nvSpPr>
          <p:cNvPr id="87" name="Google Shape;87;p13"/>
          <p:cNvSpPr txBox="1"/>
          <p:nvPr/>
        </p:nvSpPr>
        <p:spPr>
          <a:xfrm>
            <a:off x="1138433" y="4665973"/>
            <a:ext cx="16011134" cy="2131289"/>
          </a:xfrm>
          <a:prstGeom prst="rect">
            <a:avLst/>
          </a:prstGeom>
          <a:noFill/>
          <a:ln>
            <a:noFill/>
          </a:ln>
        </p:spPr>
        <p:txBody>
          <a:bodyPr anchorCtr="0" anchor="t" bIns="0" lIns="0" spcFirstLastPara="1" rIns="0" wrap="square" tIns="0">
            <a:spAutoFit/>
          </a:bodyPr>
          <a:lstStyle/>
          <a:p>
            <a:pPr indent="0" lvl="0" marL="0" marR="0" rtl="0" algn="ctr">
              <a:lnSpc>
                <a:spcPct val="148813"/>
              </a:lnSpc>
              <a:spcBef>
                <a:spcPts val="0"/>
              </a:spcBef>
              <a:spcAft>
                <a:spcPts val="0"/>
              </a:spcAft>
              <a:buNone/>
            </a:pPr>
            <a:r>
              <a:rPr b="1" i="0" lang="en-US" sz="5732" u="none" cap="none" strike="noStrike">
                <a:solidFill>
                  <a:srgbClr val="7F1114"/>
                </a:solidFill>
                <a:latin typeface="Times"/>
                <a:ea typeface="Times"/>
                <a:cs typeface="Times"/>
                <a:sym typeface="Times"/>
              </a:rPr>
              <a:t>Probabilistic School Bus Routing with Stop Selection</a:t>
            </a:r>
            <a:endParaRPr/>
          </a:p>
        </p:txBody>
      </p:sp>
      <p:sp>
        <p:nvSpPr>
          <p:cNvPr id="88" name="Google Shape;88;p13"/>
          <p:cNvSpPr/>
          <p:nvPr/>
        </p:nvSpPr>
        <p:spPr>
          <a:xfrm>
            <a:off x="538220" y="8955210"/>
            <a:ext cx="2284069" cy="1001703"/>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5">
              <a:alphaModFix/>
            </a:blip>
            <a:stretch>
              <a:fillRect b="-164858" l="-72571" r="-72155" t="-164493"/>
            </a:stretch>
          </a:blipFill>
          <a:ln>
            <a:noFill/>
          </a:ln>
        </p:spPr>
      </p:sp>
      <p:sp>
        <p:nvSpPr>
          <p:cNvPr id="89" name="Google Shape;89;p13"/>
          <p:cNvSpPr/>
          <p:nvPr/>
        </p:nvSpPr>
        <p:spPr>
          <a:xfrm>
            <a:off x="2412663" y="2730748"/>
            <a:ext cx="13462673" cy="1646342"/>
          </a:xfrm>
          <a:custGeom>
            <a:rect b="b" l="l" r="r" t="t"/>
            <a:pathLst>
              <a:path extrusionOk="0" h="1646342" w="13462673">
                <a:moveTo>
                  <a:pt x="0" y="0"/>
                </a:moveTo>
                <a:lnTo>
                  <a:pt x="13462674" y="0"/>
                </a:lnTo>
                <a:lnTo>
                  <a:pt x="13462674" y="1646342"/>
                </a:lnTo>
                <a:lnTo>
                  <a:pt x="0" y="1646342"/>
                </a:lnTo>
                <a:lnTo>
                  <a:pt x="0" y="0"/>
                </a:lnTo>
                <a:close/>
              </a:path>
            </a:pathLst>
          </a:custGeom>
          <a:blipFill rotWithShape="1">
            <a:blip r:embed="rId6">
              <a:alphaModFix/>
            </a:blip>
            <a:stretch>
              <a:fillRect b="-5374" l="-16083" r="-16083" t="0"/>
            </a:stretch>
          </a:blipFill>
          <a:ln>
            <a:noFill/>
          </a:ln>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93" name="Shape 93"/>
        <p:cNvGrpSpPr/>
        <p:nvPr/>
      </p:nvGrpSpPr>
      <p:grpSpPr>
        <a:xfrm>
          <a:off x="0" y="0"/>
          <a:ext cx="0" cy="0"/>
          <a:chOff x="0" y="0"/>
          <a:chExt cx="0" cy="0"/>
        </a:xfrm>
      </p:grpSpPr>
      <p:sp>
        <p:nvSpPr>
          <p:cNvPr id="94" name="Google Shape;94;p14"/>
          <p:cNvSpPr/>
          <p:nvPr/>
        </p:nvSpPr>
        <p:spPr>
          <a:xfrm>
            <a:off x="0" y="10134600"/>
            <a:ext cx="18288000" cy="152400"/>
          </a:xfrm>
          <a:custGeom>
            <a:rect b="b" l="l" r="r" t="t"/>
            <a:pathLst>
              <a:path extrusionOk="0" h="203200" w="24384000">
                <a:moveTo>
                  <a:pt x="0" y="0"/>
                </a:moveTo>
                <a:lnTo>
                  <a:pt x="24384000" y="0"/>
                </a:lnTo>
                <a:lnTo>
                  <a:pt x="24384000" y="203200"/>
                </a:lnTo>
                <a:lnTo>
                  <a:pt x="0" y="203200"/>
                </a:lnTo>
                <a:lnTo>
                  <a:pt x="0" y="0"/>
                </a:lnTo>
                <a:close/>
              </a:path>
            </a:pathLst>
          </a:custGeom>
          <a:blipFill rotWithShape="1">
            <a:blip r:embed="rId3">
              <a:alphaModFix/>
            </a:blip>
            <a:stretch>
              <a:fillRect b="0" l="0" r="0" t="0"/>
            </a:stretch>
          </a:blipFill>
          <a:ln>
            <a:noFill/>
          </a:ln>
        </p:spPr>
      </p:sp>
      <p:sp>
        <p:nvSpPr>
          <p:cNvPr id="95" name="Google Shape;95;p14"/>
          <p:cNvSpPr/>
          <p:nvPr/>
        </p:nvSpPr>
        <p:spPr>
          <a:xfrm>
            <a:off x="538220" y="9058418"/>
            <a:ext cx="2048732" cy="898494"/>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4">
              <a:alphaModFix/>
            </a:blip>
            <a:stretch>
              <a:fillRect b="-164802" l="-72592" r="-72212" t="-164493"/>
            </a:stretch>
          </a:blipFill>
          <a:ln>
            <a:noFill/>
          </a:ln>
        </p:spPr>
      </p:sp>
      <p:sp>
        <p:nvSpPr>
          <p:cNvPr id="96" name="Google Shape;96;p14"/>
          <p:cNvSpPr txBox="1"/>
          <p:nvPr/>
        </p:nvSpPr>
        <p:spPr>
          <a:xfrm>
            <a:off x="6063514" y="197769"/>
            <a:ext cx="6453012" cy="830931"/>
          </a:xfrm>
          <a:prstGeom prst="rect">
            <a:avLst/>
          </a:prstGeom>
          <a:noFill/>
          <a:ln>
            <a:noFill/>
          </a:ln>
        </p:spPr>
        <p:txBody>
          <a:bodyPr anchorCtr="0" anchor="t" bIns="0" lIns="0" spcFirstLastPara="1" rIns="0" wrap="square" tIns="0">
            <a:spAutoFit/>
          </a:bodyPr>
          <a:lstStyle/>
          <a:p>
            <a:pPr indent="0" lvl="0" marL="0" marR="0" rtl="0" algn="l">
              <a:lnSpc>
                <a:spcPct val="94195"/>
              </a:lnSpc>
              <a:spcBef>
                <a:spcPts val="0"/>
              </a:spcBef>
              <a:spcAft>
                <a:spcPts val="0"/>
              </a:spcAft>
              <a:buNone/>
            </a:pPr>
            <a:r>
              <a:rPr b="1" i="0" lang="en-US" sz="6288" u="none" cap="none" strike="noStrike">
                <a:solidFill>
                  <a:srgbClr val="000000"/>
                </a:solidFill>
                <a:latin typeface="Times"/>
                <a:ea typeface="Times"/>
                <a:cs typeface="Times"/>
                <a:sym typeface="Times"/>
              </a:rPr>
              <a:t>Project Motivation</a:t>
            </a:r>
            <a:endParaRPr/>
          </a:p>
        </p:txBody>
      </p:sp>
      <p:sp>
        <p:nvSpPr>
          <p:cNvPr id="97" name="Google Shape;97;p14"/>
          <p:cNvSpPr txBox="1"/>
          <p:nvPr/>
        </p:nvSpPr>
        <p:spPr>
          <a:xfrm>
            <a:off x="3301708" y="1211818"/>
            <a:ext cx="111681" cy="477180"/>
          </a:xfrm>
          <a:prstGeom prst="rect">
            <a:avLst/>
          </a:prstGeom>
          <a:noFill/>
          <a:ln>
            <a:noFill/>
          </a:ln>
        </p:spPr>
        <p:txBody>
          <a:bodyPr anchorCtr="0" anchor="t" bIns="0" lIns="0" spcFirstLastPara="1" rIns="0" wrap="square" tIns="0">
            <a:spAutoFit/>
          </a:bodyPr>
          <a:lstStyle/>
          <a:p>
            <a:pPr indent="0" lvl="0" marL="0" marR="0" rtl="0" algn="l">
              <a:lnSpc>
                <a:spcPct val="94197"/>
              </a:lnSpc>
              <a:spcBef>
                <a:spcPts val="0"/>
              </a:spcBef>
              <a:spcAft>
                <a:spcPts val="0"/>
              </a:spcAft>
              <a:buNone/>
            </a:pPr>
            <a:r>
              <a:rPr b="1" i="0" lang="en-US" sz="3516" u="none" cap="none" strike="noStrike">
                <a:solidFill>
                  <a:srgbClr val="000000"/>
                </a:solidFill>
                <a:latin typeface="Times"/>
                <a:ea typeface="Times"/>
                <a:cs typeface="Times"/>
                <a:sym typeface="Times"/>
              </a:rPr>
              <a:t> </a:t>
            </a:r>
            <a:endParaRPr/>
          </a:p>
        </p:txBody>
      </p:sp>
      <p:sp>
        <p:nvSpPr>
          <p:cNvPr id="98" name="Google Shape;98;p14"/>
          <p:cNvSpPr txBox="1"/>
          <p:nvPr/>
        </p:nvSpPr>
        <p:spPr>
          <a:xfrm>
            <a:off x="0" y="1881971"/>
            <a:ext cx="11704689" cy="3999223"/>
          </a:xfrm>
          <a:prstGeom prst="rect">
            <a:avLst/>
          </a:prstGeom>
          <a:noFill/>
          <a:ln>
            <a:noFill/>
          </a:ln>
        </p:spPr>
        <p:txBody>
          <a:bodyPr anchorCtr="0" anchor="t" bIns="0" lIns="0" spcFirstLastPara="1" rIns="0" wrap="square" tIns="0">
            <a:spAutoFit/>
          </a:bodyPr>
          <a:lstStyle/>
          <a:p>
            <a:pPr indent="0" lvl="0" marL="0" marR="0" rtl="0" algn="l">
              <a:lnSpc>
                <a:spcPct val="200000"/>
              </a:lnSpc>
              <a:spcBef>
                <a:spcPts val="0"/>
              </a:spcBef>
              <a:spcAft>
                <a:spcPts val="0"/>
              </a:spcAft>
              <a:buNone/>
            </a:pPr>
            <a:r>
              <a:rPr b="1" i="0" lang="en-US" sz="3200" u="none" cap="none" strike="noStrike">
                <a:solidFill>
                  <a:srgbClr val="000000"/>
                </a:solidFill>
                <a:latin typeface="Times"/>
                <a:ea typeface="Times"/>
                <a:cs typeface="Times"/>
                <a:sym typeface="Times"/>
              </a:rPr>
              <a:t> Course Perspective </a:t>
            </a:r>
            <a:endParaRPr/>
          </a:p>
          <a:p>
            <a:pPr indent="-345448" lvl="1" marL="690895" marR="0" rtl="0" algn="l">
              <a:lnSpc>
                <a:spcPct val="200000"/>
              </a:lnSpc>
              <a:spcBef>
                <a:spcPts val="0"/>
              </a:spcBef>
              <a:spcAft>
                <a:spcPts val="0"/>
              </a:spcAft>
              <a:buClr>
                <a:srgbClr val="000000"/>
              </a:buClr>
              <a:buSzPts val="3200"/>
              <a:buFont typeface="Arial"/>
              <a:buChar char="•"/>
            </a:pPr>
            <a:r>
              <a:rPr b="0" i="0" lang="en-US" sz="3200" u="none" cap="none" strike="noStrike">
                <a:solidFill>
                  <a:srgbClr val="000000"/>
                </a:solidFill>
                <a:latin typeface="Times New Roman"/>
                <a:ea typeface="Times New Roman"/>
                <a:cs typeface="Times New Roman"/>
                <a:sym typeface="Times New Roman"/>
              </a:rPr>
              <a:t>Apply probability to real-world optimization </a:t>
            </a:r>
            <a:endParaRPr/>
          </a:p>
          <a:p>
            <a:pPr indent="-345448" lvl="1" marL="690895" marR="0" rtl="0" algn="l">
              <a:lnSpc>
                <a:spcPct val="200000"/>
              </a:lnSpc>
              <a:spcBef>
                <a:spcPts val="0"/>
              </a:spcBef>
              <a:spcAft>
                <a:spcPts val="0"/>
              </a:spcAft>
              <a:buClr>
                <a:srgbClr val="000000"/>
              </a:buClr>
              <a:buSzPts val="3200"/>
              <a:buFont typeface="Arial"/>
              <a:buChar char="•"/>
            </a:pPr>
            <a:r>
              <a:rPr b="0" i="0" lang="en-US" sz="3200" u="none" cap="none" strike="noStrike">
                <a:solidFill>
                  <a:srgbClr val="000000"/>
                </a:solidFill>
                <a:latin typeface="Times New Roman"/>
                <a:ea typeface="Times New Roman"/>
                <a:cs typeface="Times New Roman"/>
                <a:sym typeface="Times New Roman"/>
              </a:rPr>
              <a:t>Model uncertainty (demand, traffic) </a:t>
            </a:r>
            <a:endParaRPr/>
          </a:p>
          <a:p>
            <a:pPr indent="-345448" lvl="1" marL="690895" marR="0" rtl="0" algn="l">
              <a:lnSpc>
                <a:spcPct val="200000"/>
              </a:lnSpc>
              <a:spcBef>
                <a:spcPts val="0"/>
              </a:spcBef>
              <a:spcAft>
                <a:spcPts val="0"/>
              </a:spcAft>
              <a:buClr>
                <a:srgbClr val="000000"/>
              </a:buClr>
              <a:buSzPts val="3200"/>
              <a:buFont typeface="Arial"/>
              <a:buChar char="•"/>
            </a:pPr>
            <a:r>
              <a:rPr b="0" i="0" lang="en-US" sz="3200" u="none" cap="none" strike="noStrike">
                <a:solidFill>
                  <a:srgbClr val="000000"/>
                </a:solidFill>
                <a:latin typeface="Times New Roman"/>
                <a:ea typeface="Times New Roman"/>
                <a:cs typeface="Times New Roman"/>
                <a:sym typeface="Times New Roman"/>
              </a:rPr>
              <a:t>Combine deterministic + probabilistic methods</a:t>
            </a:r>
            <a:endParaRPr/>
          </a:p>
          <a:p>
            <a:pPr indent="0" lvl="0" marL="0" marR="0" rtl="0" algn="ctr">
              <a:lnSpc>
                <a:spcPct val="200000"/>
              </a:lnSpc>
              <a:spcBef>
                <a:spcPts val="0"/>
              </a:spcBef>
              <a:spcAft>
                <a:spcPts val="0"/>
              </a:spcAft>
              <a:buNone/>
            </a:pPr>
            <a:r>
              <a:t/>
            </a:r>
            <a:endParaRPr b="0" i="0" sz="3200" u="none" cap="none" strike="noStrike">
              <a:solidFill>
                <a:srgbClr val="000000"/>
              </a:solidFill>
              <a:latin typeface="Times New Roman"/>
              <a:ea typeface="Times New Roman"/>
              <a:cs typeface="Times New Roman"/>
              <a:sym typeface="Times New Roman"/>
            </a:endParaRPr>
          </a:p>
        </p:txBody>
      </p:sp>
      <p:sp>
        <p:nvSpPr>
          <p:cNvPr id="99" name="Google Shape;99;p14"/>
          <p:cNvSpPr txBox="1"/>
          <p:nvPr/>
        </p:nvSpPr>
        <p:spPr>
          <a:xfrm>
            <a:off x="9988043" y="1796246"/>
            <a:ext cx="10912111" cy="4084948"/>
          </a:xfrm>
          <a:prstGeom prst="rect">
            <a:avLst/>
          </a:prstGeom>
          <a:noFill/>
          <a:ln>
            <a:noFill/>
          </a:ln>
        </p:spPr>
        <p:txBody>
          <a:bodyPr anchorCtr="0" anchor="t" bIns="0" lIns="0" spcFirstLastPara="1" rIns="0" wrap="square" tIns="0">
            <a:spAutoFit/>
          </a:bodyPr>
          <a:lstStyle/>
          <a:p>
            <a:pPr indent="0" lvl="0" marL="0" marR="0" rtl="0" algn="l">
              <a:lnSpc>
                <a:spcPct val="200000"/>
              </a:lnSpc>
              <a:spcBef>
                <a:spcPts val="0"/>
              </a:spcBef>
              <a:spcAft>
                <a:spcPts val="0"/>
              </a:spcAft>
              <a:buNone/>
            </a:pPr>
            <a:r>
              <a:rPr b="1" i="0" lang="en-US" sz="3300" u="none" cap="none" strike="noStrike">
                <a:solidFill>
                  <a:srgbClr val="000000"/>
                </a:solidFill>
                <a:latin typeface="Times"/>
                <a:ea typeface="Times"/>
                <a:cs typeface="Times"/>
                <a:sym typeface="Times"/>
              </a:rPr>
              <a:t>Real-World Perspective  </a:t>
            </a:r>
            <a:endParaRPr/>
          </a:p>
          <a:p>
            <a:pPr indent="-356242" lvl="1" marL="712485" marR="0" rtl="0" algn="l">
              <a:lnSpc>
                <a:spcPct val="200000"/>
              </a:lnSpc>
              <a:spcBef>
                <a:spcPts val="0"/>
              </a:spcBef>
              <a:spcAft>
                <a:spcPts val="0"/>
              </a:spcAft>
              <a:buClr>
                <a:srgbClr val="000000"/>
              </a:buClr>
              <a:buSzPts val="3300"/>
              <a:buFont typeface="Arial"/>
              <a:buChar char="•"/>
            </a:pPr>
            <a:r>
              <a:rPr b="0" i="0" lang="en-US" sz="3300" u="none" cap="none" strike="noStrike">
                <a:solidFill>
                  <a:srgbClr val="000000"/>
                </a:solidFill>
                <a:latin typeface="Times New Roman"/>
                <a:ea typeface="Times New Roman"/>
                <a:cs typeface="Times New Roman"/>
                <a:sym typeface="Times New Roman"/>
              </a:rPr>
              <a:t>Variable demand </a:t>
            </a:r>
            <a:endParaRPr/>
          </a:p>
          <a:p>
            <a:pPr indent="-356242" lvl="1" marL="712485" marR="0" rtl="0" algn="l">
              <a:lnSpc>
                <a:spcPct val="200000"/>
              </a:lnSpc>
              <a:spcBef>
                <a:spcPts val="0"/>
              </a:spcBef>
              <a:spcAft>
                <a:spcPts val="0"/>
              </a:spcAft>
              <a:buClr>
                <a:srgbClr val="000000"/>
              </a:buClr>
              <a:buSzPts val="3300"/>
              <a:buFont typeface="Arial"/>
              <a:buChar char="•"/>
            </a:pPr>
            <a:r>
              <a:rPr b="0" i="0" lang="en-US" sz="3300" u="none" cap="none" strike="noStrike">
                <a:solidFill>
                  <a:srgbClr val="000000"/>
                </a:solidFill>
                <a:latin typeface="Times New Roman"/>
                <a:ea typeface="Times New Roman"/>
                <a:cs typeface="Times New Roman"/>
                <a:sym typeface="Times New Roman"/>
              </a:rPr>
              <a:t>Traffic uncertainty </a:t>
            </a:r>
            <a:endParaRPr/>
          </a:p>
          <a:p>
            <a:pPr indent="-356242" lvl="1" marL="712485" marR="0" rtl="0" algn="l">
              <a:lnSpc>
                <a:spcPct val="200000"/>
              </a:lnSpc>
              <a:spcBef>
                <a:spcPts val="0"/>
              </a:spcBef>
              <a:spcAft>
                <a:spcPts val="0"/>
              </a:spcAft>
              <a:buClr>
                <a:srgbClr val="000000"/>
              </a:buClr>
              <a:buSzPts val="3300"/>
              <a:buFont typeface="Arial"/>
              <a:buChar char="•"/>
            </a:pPr>
            <a:r>
              <a:rPr b="0" i="0" lang="en-US" sz="3300" u="none" cap="none" strike="noStrike">
                <a:solidFill>
                  <a:srgbClr val="000000"/>
                </a:solidFill>
                <a:latin typeface="Times New Roman"/>
                <a:ea typeface="Times New Roman"/>
                <a:cs typeface="Times New Roman"/>
                <a:sym typeface="Times New Roman"/>
              </a:rPr>
              <a:t>Poor routing → higher cost &amp; delays</a:t>
            </a:r>
            <a:endParaRPr/>
          </a:p>
          <a:p>
            <a:pPr indent="0" lvl="0" marL="0" marR="0" rtl="0" algn="ctr">
              <a:lnSpc>
                <a:spcPct val="187878"/>
              </a:lnSpc>
              <a:spcBef>
                <a:spcPts val="0"/>
              </a:spcBef>
              <a:spcAft>
                <a:spcPts val="0"/>
              </a:spcAft>
              <a:buNone/>
            </a:pPr>
            <a:r>
              <a:t/>
            </a:r>
            <a:endParaRPr b="0" i="0" sz="33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03" name="Shape 103"/>
        <p:cNvGrpSpPr/>
        <p:nvPr/>
      </p:nvGrpSpPr>
      <p:grpSpPr>
        <a:xfrm>
          <a:off x="0" y="0"/>
          <a:ext cx="0" cy="0"/>
          <a:chOff x="0" y="0"/>
          <a:chExt cx="0" cy="0"/>
        </a:xfrm>
      </p:grpSpPr>
      <p:sp>
        <p:nvSpPr>
          <p:cNvPr id="104" name="Google Shape;104;p15"/>
          <p:cNvSpPr/>
          <p:nvPr/>
        </p:nvSpPr>
        <p:spPr>
          <a:xfrm>
            <a:off x="538220" y="8809058"/>
            <a:ext cx="2048732" cy="898494"/>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3">
              <a:alphaModFix/>
            </a:blip>
            <a:stretch>
              <a:fillRect b="-164802" l="-72592" r="-72212" t="-164493"/>
            </a:stretch>
          </a:blipFill>
          <a:ln>
            <a:noFill/>
          </a:ln>
        </p:spPr>
      </p:sp>
      <p:sp>
        <p:nvSpPr>
          <p:cNvPr id="105" name="Google Shape;105;p15"/>
          <p:cNvSpPr txBox="1"/>
          <p:nvPr/>
        </p:nvSpPr>
        <p:spPr>
          <a:xfrm>
            <a:off x="0" y="914400"/>
            <a:ext cx="18288000" cy="7437119"/>
          </a:xfrm>
          <a:prstGeom prst="rect">
            <a:avLst/>
          </a:prstGeom>
          <a:noFill/>
          <a:ln>
            <a:noFill/>
          </a:ln>
        </p:spPr>
        <p:txBody>
          <a:bodyPr anchorCtr="0" anchor="t" bIns="0" lIns="0" spcFirstLastPara="1" rIns="0" wrap="square" tIns="0">
            <a:spAutoFit/>
          </a:bodyPr>
          <a:lstStyle/>
          <a:p>
            <a:pPr indent="0" lvl="0" marL="0" marR="0" rtl="0" algn="ctr">
              <a:lnSpc>
                <a:spcPct val="35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ctr">
              <a:lnSpc>
                <a:spcPct val="30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399421" lvl="1" marL="798842" marR="0" rtl="0" algn="l">
              <a:lnSpc>
                <a:spcPct val="140000"/>
              </a:lnSpc>
              <a:spcBef>
                <a:spcPts val="0"/>
              </a:spcBef>
              <a:spcAft>
                <a:spcPts val="0"/>
              </a:spcAft>
              <a:buClr>
                <a:srgbClr val="000000"/>
              </a:buClr>
              <a:buSzPts val="3700"/>
              <a:buFont typeface="Arial"/>
              <a:buChar char="•"/>
            </a:pPr>
            <a:r>
              <a:rPr b="0" i="0" lang="en-US" sz="3700" u="none" cap="none" strike="noStrike">
                <a:solidFill>
                  <a:srgbClr val="000000"/>
                </a:solidFill>
                <a:latin typeface="Times New Roman"/>
                <a:ea typeface="Times New Roman"/>
                <a:cs typeface="Times New Roman"/>
                <a:sym typeface="Times New Roman"/>
              </a:rPr>
              <a:t>School Bus Routing with stop selection problem </a:t>
            </a:r>
            <a:endParaRPr/>
          </a:p>
          <a:p>
            <a:pPr indent="-399421" lvl="1" marL="798842" marR="0" rtl="0" algn="l">
              <a:lnSpc>
                <a:spcPct val="140000"/>
              </a:lnSpc>
              <a:spcBef>
                <a:spcPts val="0"/>
              </a:spcBef>
              <a:spcAft>
                <a:spcPts val="0"/>
              </a:spcAft>
              <a:buClr>
                <a:srgbClr val="000000"/>
              </a:buClr>
              <a:buSzPts val="3700"/>
              <a:buFont typeface="Arial"/>
              <a:buChar char="•"/>
            </a:pPr>
            <a:r>
              <a:rPr b="0" i="0" lang="en-US" sz="3700" u="none" cap="none" strike="noStrike">
                <a:solidFill>
                  <a:srgbClr val="000000"/>
                </a:solidFill>
                <a:latin typeface="Times New Roman"/>
                <a:ea typeface="Times New Roman"/>
                <a:cs typeface="Times New Roman"/>
                <a:sym typeface="Times New Roman"/>
              </a:rPr>
              <a:t>Objective: minimize total travel time</a:t>
            </a:r>
            <a:endParaRPr/>
          </a:p>
          <a:p>
            <a:pPr indent="-399421" lvl="1" marL="798842" marR="0" rtl="0" algn="l">
              <a:lnSpc>
                <a:spcPct val="140000"/>
              </a:lnSpc>
              <a:spcBef>
                <a:spcPts val="0"/>
              </a:spcBef>
              <a:spcAft>
                <a:spcPts val="0"/>
              </a:spcAft>
              <a:buClr>
                <a:srgbClr val="000000"/>
              </a:buClr>
              <a:buSzPts val="3700"/>
              <a:buFont typeface="Arial"/>
              <a:buChar char="•"/>
            </a:pPr>
            <a:r>
              <a:rPr b="0" i="0" lang="en-US" sz="3700" u="none" cap="none" strike="noStrike">
                <a:solidFill>
                  <a:srgbClr val="000000"/>
                </a:solidFill>
                <a:latin typeface="Times New Roman"/>
                <a:ea typeface="Times New Roman"/>
                <a:cs typeface="Times New Roman"/>
                <a:sym typeface="Times New Roman"/>
              </a:rPr>
              <a:t>Uses EDA (Estimation of Distribution Algorithm)</a:t>
            </a:r>
            <a:endParaRPr/>
          </a:p>
          <a:p>
            <a:pPr indent="-399421" lvl="1" marL="798842" marR="0" rtl="0" algn="l">
              <a:lnSpc>
                <a:spcPct val="140000"/>
              </a:lnSpc>
              <a:spcBef>
                <a:spcPts val="0"/>
              </a:spcBef>
              <a:spcAft>
                <a:spcPts val="0"/>
              </a:spcAft>
              <a:buClr>
                <a:srgbClr val="000000"/>
              </a:buClr>
              <a:buSzPts val="3700"/>
              <a:buFont typeface="Arial"/>
              <a:buChar char="•"/>
            </a:pPr>
            <a:r>
              <a:rPr b="0" i="0" lang="en-US" sz="3700" u="none" cap="none" strike="noStrike">
                <a:solidFill>
                  <a:srgbClr val="000000"/>
                </a:solidFill>
                <a:latin typeface="Times New Roman"/>
                <a:ea typeface="Times New Roman"/>
                <a:cs typeface="Times New Roman"/>
                <a:sym typeface="Times New Roman"/>
              </a:rPr>
              <a:t>Learns probability of good routes</a:t>
            </a:r>
            <a:endParaRPr/>
          </a:p>
          <a:p>
            <a:pPr indent="-399421" lvl="1" marL="798842" marR="0" rtl="0" algn="l">
              <a:lnSpc>
                <a:spcPct val="140000"/>
              </a:lnSpc>
              <a:spcBef>
                <a:spcPts val="0"/>
              </a:spcBef>
              <a:spcAft>
                <a:spcPts val="0"/>
              </a:spcAft>
              <a:buClr>
                <a:srgbClr val="000000"/>
              </a:buClr>
              <a:buSzPts val="3700"/>
              <a:buFont typeface="Arial"/>
              <a:buChar char="•"/>
            </a:pPr>
            <a:r>
              <a:rPr b="0" i="0" lang="en-US" sz="3700" u="none" cap="none" strike="noStrike">
                <a:solidFill>
                  <a:srgbClr val="000000"/>
                </a:solidFill>
                <a:latin typeface="Times New Roman"/>
                <a:ea typeface="Times New Roman"/>
                <a:cs typeface="Times New Roman"/>
                <a:sym typeface="Times New Roman"/>
              </a:rPr>
              <a:t>Generates new routes using sampling</a:t>
            </a:r>
            <a:endParaRPr/>
          </a:p>
          <a:p>
            <a:pPr indent="-399421" lvl="1" marL="798842" marR="0" rtl="0" algn="l">
              <a:lnSpc>
                <a:spcPct val="140000"/>
              </a:lnSpc>
              <a:spcBef>
                <a:spcPts val="0"/>
              </a:spcBef>
              <a:spcAft>
                <a:spcPts val="0"/>
              </a:spcAft>
              <a:buClr>
                <a:srgbClr val="000000"/>
              </a:buClr>
              <a:buSzPts val="3700"/>
              <a:buFont typeface="Arial"/>
              <a:buChar char="•"/>
            </a:pPr>
            <a:r>
              <a:rPr b="0" i="0" lang="en-US" sz="3700" u="none" cap="none" strike="noStrike">
                <a:solidFill>
                  <a:srgbClr val="000000"/>
                </a:solidFill>
                <a:latin typeface="Times New Roman"/>
                <a:ea typeface="Times New Roman"/>
                <a:cs typeface="Times New Roman"/>
                <a:sym typeface="Times New Roman"/>
              </a:rPr>
              <a:t>Replaces traditional genetic methods</a:t>
            </a:r>
            <a:endParaRPr/>
          </a:p>
          <a:p>
            <a:pPr indent="-399421" lvl="1" marL="798842" marR="0" rtl="0" algn="l">
              <a:lnSpc>
                <a:spcPct val="140000"/>
              </a:lnSpc>
              <a:spcBef>
                <a:spcPts val="0"/>
              </a:spcBef>
              <a:spcAft>
                <a:spcPts val="0"/>
              </a:spcAft>
              <a:buClr>
                <a:srgbClr val="000000"/>
              </a:buClr>
              <a:buSzPts val="3700"/>
              <a:buFont typeface="Arial"/>
              <a:buChar char="•"/>
            </a:pPr>
            <a:r>
              <a:rPr b="0" i="0" lang="en-US" sz="3700" u="none" cap="none" strike="noStrike">
                <a:solidFill>
                  <a:srgbClr val="000000"/>
                </a:solidFill>
                <a:latin typeface="Times New Roman"/>
                <a:ea typeface="Times New Roman"/>
                <a:cs typeface="Times New Roman"/>
                <a:sym typeface="Times New Roman"/>
              </a:rPr>
              <a:t>Handles complex routing efficiently</a:t>
            </a:r>
            <a:endParaRPr/>
          </a:p>
          <a:p>
            <a:pPr indent="-399421" lvl="1" marL="798842" marR="0" rtl="0" algn="l">
              <a:lnSpc>
                <a:spcPct val="140000"/>
              </a:lnSpc>
              <a:spcBef>
                <a:spcPts val="0"/>
              </a:spcBef>
              <a:spcAft>
                <a:spcPts val="0"/>
              </a:spcAft>
              <a:buClr>
                <a:srgbClr val="000000"/>
              </a:buClr>
              <a:buSzPts val="3700"/>
              <a:buFont typeface="Arial"/>
              <a:buChar char="•"/>
            </a:pPr>
            <a:r>
              <a:rPr b="0" i="0" lang="en-US" sz="3700" u="none" cap="none" strike="noStrike">
                <a:solidFill>
                  <a:srgbClr val="000000"/>
                </a:solidFill>
                <a:latin typeface="Times New Roman"/>
                <a:ea typeface="Times New Roman"/>
                <a:cs typeface="Times New Roman"/>
                <a:sym typeface="Times New Roman"/>
              </a:rPr>
              <a:t>Achieves better or comparable results</a:t>
            </a:r>
            <a:endParaRPr/>
          </a:p>
          <a:p>
            <a:pPr indent="0" lvl="0" marL="0" marR="0" rtl="0" algn="ctr">
              <a:lnSpc>
                <a:spcPct val="147567"/>
              </a:lnSpc>
              <a:spcBef>
                <a:spcPts val="0"/>
              </a:spcBef>
              <a:spcAft>
                <a:spcPts val="0"/>
              </a:spcAft>
              <a:buNone/>
            </a:pPr>
            <a:r>
              <a:t/>
            </a:r>
            <a:endParaRPr b="0" i="0" sz="3700" u="none" cap="none" strike="noStrike">
              <a:solidFill>
                <a:srgbClr val="000000"/>
              </a:solidFill>
              <a:latin typeface="Times New Roman"/>
              <a:ea typeface="Times New Roman"/>
              <a:cs typeface="Times New Roman"/>
              <a:sym typeface="Times New Roman"/>
            </a:endParaRPr>
          </a:p>
        </p:txBody>
      </p:sp>
      <p:sp>
        <p:nvSpPr>
          <p:cNvPr id="106" name="Google Shape;106;p15"/>
          <p:cNvSpPr txBox="1"/>
          <p:nvPr/>
        </p:nvSpPr>
        <p:spPr>
          <a:xfrm>
            <a:off x="5345381" y="675147"/>
            <a:ext cx="7274972" cy="830931"/>
          </a:xfrm>
          <a:prstGeom prst="rect">
            <a:avLst/>
          </a:prstGeom>
          <a:noFill/>
          <a:ln>
            <a:noFill/>
          </a:ln>
        </p:spPr>
        <p:txBody>
          <a:bodyPr anchorCtr="0" anchor="t" bIns="0" lIns="0" spcFirstLastPara="1" rIns="0" wrap="square" tIns="0">
            <a:spAutoFit/>
          </a:bodyPr>
          <a:lstStyle/>
          <a:p>
            <a:pPr indent="0" lvl="0" marL="0" marR="0" rtl="0" algn="l">
              <a:lnSpc>
                <a:spcPct val="94195"/>
              </a:lnSpc>
              <a:spcBef>
                <a:spcPts val="0"/>
              </a:spcBef>
              <a:spcAft>
                <a:spcPts val="0"/>
              </a:spcAft>
              <a:buNone/>
            </a:pPr>
            <a:r>
              <a:rPr b="1" i="0" lang="en-US" sz="6288" u="none" cap="none" strike="noStrike">
                <a:solidFill>
                  <a:srgbClr val="000000"/>
                </a:solidFill>
                <a:latin typeface="Times"/>
                <a:ea typeface="Times"/>
                <a:cs typeface="Times"/>
                <a:sym typeface="Times"/>
              </a:rPr>
              <a:t>Base paper Overview</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10" name="Shape 110"/>
        <p:cNvGrpSpPr/>
        <p:nvPr/>
      </p:nvGrpSpPr>
      <p:grpSpPr>
        <a:xfrm>
          <a:off x="0" y="0"/>
          <a:ext cx="0" cy="0"/>
          <a:chOff x="0" y="0"/>
          <a:chExt cx="0" cy="0"/>
        </a:xfrm>
      </p:grpSpPr>
      <p:sp>
        <p:nvSpPr>
          <p:cNvPr id="111" name="Google Shape;111;p16"/>
          <p:cNvSpPr/>
          <p:nvPr/>
        </p:nvSpPr>
        <p:spPr>
          <a:xfrm>
            <a:off x="0" y="10134600"/>
            <a:ext cx="18288000" cy="152400"/>
          </a:xfrm>
          <a:custGeom>
            <a:rect b="b" l="l" r="r" t="t"/>
            <a:pathLst>
              <a:path extrusionOk="0" h="203200" w="24384000">
                <a:moveTo>
                  <a:pt x="0" y="0"/>
                </a:moveTo>
                <a:lnTo>
                  <a:pt x="24384000" y="0"/>
                </a:lnTo>
                <a:lnTo>
                  <a:pt x="24384000" y="203200"/>
                </a:lnTo>
                <a:lnTo>
                  <a:pt x="0" y="203200"/>
                </a:lnTo>
                <a:lnTo>
                  <a:pt x="0" y="0"/>
                </a:lnTo>
                <a:close/>
              </a:path>
            </a:pathLst>
          </a:custGeom>
          <a:blipFill rotWithShape="1">
            <a:blip r:embed="rId3">
              <a:alphaModFix/>
            </a:blip>
            <a:stretch>
              <a:fillRect b="0" l="0" r="0" t="0"/>
            </a:stretch>
          </a:blipFill>
          <a:ln>
            <a:noFill/>
          </a:ln>
        </p:spPr>
      </p:sp>
      <p:sp>
        <p:nvSpPr>
          <p:cNvPr id="112" name="Google Shape;112;p16"/>
          <p:cNvSpPr/>
          <p:nvPr/>
        </p:nvSpPr>
        <p:spPr>
          <a:xfrm>
            <a:off x="538220" y="9058418"/>
            <a:ext cx="2048732" cy="898494"/>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4">
              <a:alphaModFix/>
            </a:blip>
            <a:stretch>
              <a:fillRect b="-164802" l="-72592" r="-72212" t="-164493"/>
            </a:stretch>
          </a:blipFill>
          <a:ln>
            <a:noFill/>
          </a:ln>
        </p:spPr>
      </p:sp>
      <p:sp>
        <p:nvSpPr>
          <p:cNvPr id="113" name="Google Shape;113;p16"/>
          <p:cNvSpPr txBox="1"/>
          <p:nvPr/>
        </p:nvSpPr>
        <p:spPr>
          <a:xfrm>
            <a:off x="1385897" y="1226572"/>
            <a:ext cx="111204" cy="826187"/>
          </a:xfrm>
          <a:prstGeom prst="rect">
            <a:avLst/>
          </a:prstGeom>
          <a:noFill/>
          <a:ln>
            <a:noFill/>
          </a:ln>
        </p:spPr>
        <p:txBody>
          <a:bodyPr anchorCtr="0" anchor="t" bIns="0" lIns="0" spcFirstLastPara="1" rIns="0" wrap="square" tIns="0">
            <a:spAutoFit/>
          </a:bodyPr>
          <a:lstStyle/>
          <a:p>
            <a:pPr indent="0" lvl="0" marL="0" marR="0" rtl="0" algn="l">
              <a:lnSpc>
                <a:spcPct val="202000"/>
              </a:lnSpc>
              <a:spcBef>
                <a:spcPts val="0"/>
              </a:spcBef>
              <a:spcAft>
                <a:spcPts val="0"/>
              </a:spcAft>
              <a:buNone/>
            </a:pPr>
            <a:r>
              <a:rPr b="1" i="0" lang="en-US" sz="3499" u="none" cap="none" strike="noStrike">
                <a:solidFill>
                  <a:srgbClr val="000000"/>
                </a:solidFill>
                <a:latin typeface="Times"/>
                <a:ea typeface="Times"/>
                <a:cs typeface="Times"/>
                <a:sym typeface="Times"/>
              </a:rPr>
              <a:t> </a:t>
            </a:r>
            <a:endParaRPr/>
          </a:p>
        </p:txBody>
      </p:sp>
      <p:sp>
        <p:nvSpPr>
          <p:cNvPr id="114" name="Google Shape;114;p16"/>
          <p:cNvSpPr txBox="1"/>
          <p:nvPr/>
        </p:nvSpPr>
        <p:spPr>
          <a:xfrm>
            <a:off x="538220" y="1611601"/>
            <a:ext cx="12511014" cy="1507022"/>
          </a:xfrm>
          <a:prstGeom prst="rect">
            <a:avLst/>
          </a:prstGeom>
          <a:noFill/>
          <a:ln>
            <a:noFill/>
          </a:ln>
        </p:spPr>
        <p:txBody>
          <a:bodyPr anchorCtr="0" anchor="t" bIns="0" lIns="0" spcFirstLastPara="1" rIns="0" wrap="square" tIns="0">
            <a:spAutoFit/>
          </a:bodyPr>
          <a:lstStyle/>
          <a:p>
            <a:pPr indent="-460078" lvl="1" marL="920156" marR="0" rtl="0" algn="l">
              <a:lnSpc>
                <a:spcPct val="140014"/>
              </a:lnSpc>
              <a:spcBef>
                <a:spcPts val="0"/>
              </a:spcBef>
              <a:spcAft>
                <a:spcPts val="0"/>
              </a:spcAft>
              <a:buClr>
                <a:srgbClr val="000000"/>
              </a:buClr>
              <a:buSzPts val="4261"/>
              <a:buFont typeface="Arial"/>
              <a:buChar char="•"/>
            </a:pPr>
            <a:r>
              <a:rPr b="1" i="0" lang="en-US" sz="4261" u="none" cap="none" strike="noStrike">
                <a:solidFill>
                  <a:srgbClr val="000000"/>
                </a:solidFill>
                <a:latin typeface="Times"/>
                <a:ea typeface="Times"/>
                <a:cs typeface="Times"/>
                <a:sym typeface="Times"/>
              </a:rPr>
              <a:t>Formula</a:t>
            </a:r>
            <a:endParaRPr/>
          </a:p>
          <a:p>
            <a:pPr indent="0" lvl="0" marL="0" marR="0" rtl="0" algn="l">
              <a:lnSpc>
                <a:spcPct val="140014"/>
              </a:lnSpc>
              <a:spcBef>
                <a:spcPts val="0"/>
              </a:spcBef>
              <a:spcAft>
                <a:spcPts val="0"/>
              </a:spcAft>
              <a:buNone/>
            </a:pPr>
            <a:r>
              <a:t/>
            </a:r>
            <a:endParaRPr b="1" i="0" sz="4261" u="none" cap="none" strike="noStrike">
              <a:solidFill>
                <a:srgbClr val="000000"/>
              </a:solidFill>
              <a:latin typeface="Times"/>
              <a:ea typeface="Times"/>
              <a:cs typeface="Times"/>
              <a:sym typeface="Times"/>
            </a:endParaRPr>
          </a:p>
        </p:txBody>
      </p:sp>
      <p:sp>
        <p:nvSpPr>
          <p:cNvPr id="115" name="Google Shape;115;p16"/>
          <p:cNvSpPr txBox="1"/>
          <p:nvPr/>
        </p:nvSpPr>
        <p:spPr>
          <a:xfrm>
            <a:off x="11050283" y="3925637"/>
            <a:ext cx="5258871" cy="2748914"/>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3900" u="none" cap="none" strike="noStrike">
                <a:solidFill>
                  <a:srgbClr val="000000"/>
                </a:solidFill>
                <a:latin typeface="Times"/>
                <a:ea typeface="Times"/>
                <a:cs typeface="Times"/>
                <a:sym typeface="Times"/>
              </a:rPr>
              <a:t>Inputs:</a:t>
            </a:r>
            <a:endParaRPr/>
          </a:p>
          <a:p>
            <a:pPr indent="-421011" lvl="1" marL="842021" marR="0" rtl="0" algn="l">
              <a:lnSpc>
                <a:spcPct val="140000"/>
              </a:lnSpc>
              <a:spcBef>
                <a:spcPts val="0"/>
              </a:spcBef>
              <a:spcAft>
                <a:spcPts val="0"/>
              </a:spcAft>
              <a:buClr>
                <a:srgbClr val="000000"/>
              </a:buClr>
              <a:buSzPts val="3900"/>
              <a:buFont typeface="Arial"/>
              <a:buChar char="•"/>
            </a:pPr>
            <a:r>
              <a:rPr b="1" i="0" lang="en-US" sz="3900" u="none" cap="none" strike="noStrike">
                <a:solidFill>
                  <a:srgbClr val="000000"/>
                </a:solidFill>
                <a:latin typeface="Times"/>
                <a:ea typeface="Times"/>
                <a:cs typeface="Times"/>
                <a:sym typeface="Times"/>
              </a:rPr>
              <a:t>Locations of student </a:t>
            </a:r>
            <a:endParaRPr/>
          </a:p>
          <a:p>
            <a:pPr indent="-421011" lvl="1" marL="842021" marR="0" rtl="0" algn="l">
              <a:lnSpc>
                <a:spcPct val="140000"/>
              </a:lnSpc>
              <a:spcBef>
                <a:spcPts val="0"/>
              </a:spcBef>
              <a:spcAft>
                <a:spcPts val="0"/>
              </a:spcAft>
              <a:buClr>
                <a:srgbClr val="000000"/>
              </a:buClr>
              <a:buSzPts val="3900"/>
              <a:buFont typeface="Arial"/>
              <a:buChar char="•"/>
            </a:pPr>
            <a:r>
              <a:rPr b="1" i="0" lang="en-US" sz="3900" u="none" cap="none" strike="noStrike">
                <a:solidFill>
                  <a:srgbClr val="000000"/>
                </a:solidFill>
                <a:latin typeface="Times"/>
                <a:ea typeface="Times"/>
                <a:cs typeface="Times"/>
                <a:sym typeface="Times"/>
              </a:rPr>
              <a:t>Bus stops</a:t>
            </a:r>
            <a:endParaRPr/>
          </a:p>
          <a:p>
            <a:pPr indent="-421011" lvl="1" marL="842021" marR="0" rtl="0" algn="l">
              <a:lnSpc>
                <a:spcPct val="140000"/>
              </a:lnSpc>
              <a:spcBef>
                <a:spcPts val="0"/>
              </a:spcBef>
              <a:spcAft>
                <a:spcPts val="0"/>
              </a:spcAft>
              <a:buClr>
                <a:srgbClr val="000000"/>
              </a:buClr>
              <a:buSzPts val="3900"/>
              <a:buFont typeface="Arial"/>
              <a:buChar char="•"/>
            </a:pPr>
            <a:r>
              <a:rPr b="1" i="0" lang="en-US" sz="3900" u="none" cap="none" strike="noStrike">
                <a:solidFill>
                  <a:srgbClr val="000000"/>
                </a:solidFill>
                <a:latin typeface="Times"/>
                <a:ea typeface="Times"/>
                <a:cs typeface="Times"/>
                <a:sym typeface="Times"/>
              </a:rPr>
              <a:t>Traffic speed</a:t>
            </a:r>
            <a:endParaRPr/>
          </a:p>
        </p:txBody>
      </p:sp>
      <p:sp>
        <p:nvSpPr>
          <p:cNvPr id="116" name="Google Shape;116;p16"/>
          <p:cNvSpPr txBox="1"/>
          <p:nvPr/>
        </p:nvSpPr>
        <p:spPr>
          <a:xfrm>
            <a:off x="11300076" y="7055860"/>
            <a:ext cx="5009079" cy="1377315"/>
          </a:xfrm>
          <a:prstGeom prst="rect">
            <a:avLst/>
          </a:prstGeom>
          <a:noFill/>
          <a:ln>
            <a:noFill/>
          </a:ln>
        </p:spPr>
        <p:txBody>
          <a:bodyPr anchorCtr="0" anchor="t" bIns="0" lIns="0" spcFirstLastPara="1" rIns="0" wrap="square" tIns="0">
            <a:spAutoFit/>
          </a:bodyPr>
          <a:lstStyle/>
          <a:p>
            <a:pPr indent="0" lvl="0" marL="0" marR="0" rtl="0" algn="l">
              <a:lnSpc>
                <a:spcPct val="139974"/>
              </a:lnSpc>
              <a:spcBef>
                <a:spcPts val="0"/>
              </a:spcBef>
              <a:spcAft>
                <a:spcPts val="0"/>
              </a:spcAft>
              <a:buNone/>
            </a:pPr>
            <a:r>
              <a:rPr b="1" i="0" lang="en-US" sz="3900" u="none" cap="none" strike="noStrike">
                <a:solidFill>
                  <a:srgbClr val="000000"/>
                </a:solidFill>
                <a:latin typeface="Times"/>
                <a:ea typeface="Times"/>
                <a:cs typeface="Times"/>
                <a:sym typeface="Times"/>
              </a:rPr>
              <a:t>Output:</a:t>
            </a:r>
            <a:endParaRPr/>
          </a:p>
          <a:p>
            <a:pPr indent="-421005" lvl="1" marL="842010" marR="0" rtl="0" algn="l">
              <a:lnSpc>
                <a:spcPct val="139974"/>
              </a:lnSpc>
              <a:spcBef>
                <a:spcPts val="0"/>
              </a:spcBef>
              <a:spcAft>
                <a:spcPts val="0"/>
              </a:spcAft>
              <a:buClr>
                <a:srgbClr val="000000"/>
              </a:buClr>
              <a:buSzPts val="3900"/>
              <a:buFont typeface="Arial"/>
              <a:buChar char="•"/>
            </a:pPr>
            <a:r>
              <a:rPr b="1" i="0" lang="en-US" sz="3900" u="none" cap="none" strike="noStrike">
                <a:solidFill>
                  <a:srgbClr val="000000"/>
                </a:solidFill>
                <a:latin typeface="Times"/>
                <a:ea typeface="Times"/>
                <a:cs typeface="Times"/>
                <a:sym typeface="Times"/>
              </a:rPr>
              <a:t>Optimal routes</a:t>
            </a:r>
            <a:endParaRPr/>
          </a:p>
        </p:txBody>
      </p:sp>
      <p:sp>
        <p:nvSpPr>
          <p:cNvPr id="117" name="Google Shape;117;p16"/>
          <p:cNvSpPr txBox="1"/>
          <p:nvPr/>
        </p:nvSpPr>
        <p:spPr>
          <a:xfrm>
            <a:off x="6063514" y="426122"/>
            <a:ext cx="6985720" cy="830931"/>
          </a:xfrm>
          <a:prstGeom prst="rect">
            <a:avLst/>
          </a:prstGeom>
          <a:noFill/>
          <a:ln>
            <a:noFill/>
          </a:ln>
        </p:spPr>
        <p:txBody>
          <a:bodyPr anchorCtr="0" anchor="t" bIns="0" lIns="0" spcFirstLastPara="1" rIns="0" wrap="square" tIns="0">
            <a:spAutoFit/>
          </a:bodyPr>
          <a:lstStyle/>
          <a:p>
            <a:pPr indent="0" lvl="0" marL="0" marR="0" rtl="0" algn="l">
              <a:lnSpc>
                <a:spcPct val="94195"/>
              </a:lnSpc>
              <a:spcBef>
                <a:spcPts val="0"/>
              </a:spcBef>
              <a:spcAft>
                <a:spcPts val="0"/>
              </a:spcAft>
              <a:buNone/>
            </a:pPr>
            <a:r>
              <a:rPr b="1" i="0" lang="en-US" sz="6288" u="none" cap="none" strike="noStrike">
                <a:solidFill>
                  <a:srgbClr val="000000"/>
                </a:solidFill>
                <a:latin typeface="Times"/>
                <a:ea typeface="Times"/>
                <a:cs typeface="Times"/>
                <a:sym typeface="Times"/>
              </a:rPr>
              <a:t>Project Formulation</a:t>
            </a:r>
            <a:endParaRPr/>
          </a:p>
        </p:txBody>
      </p:sp>
      <p:pic>
        <p:nvPicPr>
          <p:cNvPr id="118" name="Google Shape;118;p16"/>
          <p:cNvPicPr preferRelativeResize="0"/>
          <p:nvPr/>
        </p:nvPicPr>
        <p:blipFill rotWithShape="1">
          <a:blip r:embed="rId5">
            <a:alphaModFix/>
          </a:blip>
          <a:srcRect b="0" l="0" r="0" t="0"/>
          <a:stretch/>
        </p:blipFill>
        <p:spPr>
          <a:xfrm>
            <a:off x="3987506" y="1779732"/>
            <a:ext cx="5839447" cy="2394105"/>
          </a:xfrm>
          <a:prstGeom prst="rect">
            <a:avLst/>
          </a:prstGeom>
          <a:noFill/>
          <a:ln>
            <a:noFill/>
          </a:ln>
        </p:spPr>
      </p:pic>
      <p:sp>
        <p:nvSpPr>
          <p:cNvPr id="119" name="Google Shape;119;p16"/>
          <p:cNvSpPr txBox="1"/>
          <p:nvPr/>
        </p:nvSpPr>
        <p:spPr>
          <a:xfrm>
            <a:off x="1385897" y="4071129"/>
            <a:ext cx="8585284" cy="4806314"/>
          </a:xfrm>
          <a:prstGeom prst="rect">
            <a:avLst/>
          </a:prstGeom>
          <a:noFill/>
          <a:ln>
            <a:noFill/>
          </a:ln>
        </p:spPr>
        <p:txBody>
          <a:bodyPr anchorCtr="0" anchor="t" bIns="0" lIns="0" spcFirstLastPara="1" rIns="0" wrap="square" tIns="0">
            <a:spAutoFit/>
          </a:bodyPr>
          <a:lstStyle/>
          <a:p>
            <a:pPr indent="-421011" lvl="1" marL="842021" marR="0" rtl="0" algn="l">
              <a:lnSpc>
                <a:spcPct val="140000"/>
              </a:lnSpc>
              <a:spcBef>
                <a:spcPts val="0"/>
              </a:spcBef>
              <a:spcAft>
                <a:spcPts val="0"/>
              </a:spcAft>
              <a:buClr>
                <a:srgbClr val="000000"/>
              </a:buClr>
              <a:buSzPts val="3900"/>
              <a:buFont typeface="Arial"/>
              <a:buChar char="•"/>
            </a:pPr>
            <a:r>
              <a:rPr b="1" i="0" lang="en-US" sz="3900" u="none" cap="none" strike="noStrike">
                <a:solidFill>
                  <a:srgbClr val="000000"/>
                </a:solidFill>
                <a:latin typeface="Times"/>
                <a:ea typeface="Times"/>
                <a:cs typeface="Times"/>
                <a:sym typeface="Times"/>
              </a:rPr>
              <a:t>Minimize total travel cost/distance/time</a:t>
            </a:r>
            <a:endParaRPr/>
          </a:p>
          <a:p>
            <a:pPr indent="-421011" lvl="1" marL="842021" marR="0" rtl="0" algn="l">
              <a:lnSpc>
                <a:spcPct val="140000"/>
              </a:lnSpc>
              <a:spcBef>
                <a:spcPts val="0"/>
              </a:spcBef>
              <a:spcAft>
                <a:spcPts val="0"/>
              </a:spcAft>
              <a:buClr>
                <a:srgbClr val="000000"/>
              </a:buClr>
              <a:buSzPts val="3900"/>
              <a:buFont typeface="Arial"/>
              <a:buChar char="•"/>
            </a:pPr>
            <a:r>
              <a:rPr b="1" i="0" lang="en-US" sz="3900" u="none" cap="none" strike="noStrike">
                <a:solidFill>
                  <a:srgbClr val="000000"/>
                </a:solidFill>
                <a:latin typeface="Times"/>
                <a:ea typeface="Times"/>
                <a:cs typeface="Times"/>
                <a:sym typeface="Times"/>
              </a:rPr>
              <a:t>cijc_{ij}cij​: cost (distance/time between stops)</a:t>
            </a:r>
            <a:endParaRPr/>
          </a:p>
          <a:p>
            <a:pPr indent="-421011" lvl="1" marL="842021" marR="0" rtl="0" algn="l">
              <a:lnSpc>
                <a:spcPct val="140000"/>
              </a:lnSpc>
              <a:spcBef>
                <a:spcPts val="0"/>
              </a:spcBef>
              <a:spcAft>
                <a:spcPts val="0"/>
              </a:spcAft>
              <a:buClr>
                <a:srgbClr val="000000"/>
              </a:buClr>
              <a:buSzPts val="3900"/>
              <a:buFont typeface="Arial"/>
              <a:buChar char="•"/>
            </a:pPr>
            <a:r>
              <a:rPr b="1" i="0" lang="en-US" sz="3900" u="none" cap="none" strike="noStrike">
                <a:solidFill>
                  <a:srgbClr val="000000"/>
                </a:solidFill>
                <a:latin typeface="Times"/>
                <a:ea typeface="Times"/>
                <a:cs typeface="Times"/>
                <a:sym typeface="Times"/>
              </a:rPr>
              <a:t>xijx_{ij}xij​: 1 if route goes from i → j, else 0</a:t>
            </a:r>
            <a:endParaRPr/>
          </a:p>
          <a:p>
            <a:pPr indent="0" lvl="0" marL="0" marR="0" rtl="0" algn="l">
              <a:lnSpc>
                <a:spcPct val="140000"/>
              </a:lnSpc>
              <a:spcBef>
                <a:spcPts val="0"/>
              </a:spcBef>
              <a:spcAft>
                <a:spcPts val="0"/>
              </a:spcAft>
              <a:buNone/>
            </a:pPr>
            <a:r>
              <a:t/>
            </a:r>
            <a:endParaRPr b="1" i="0" sz="3900" u="none" cap="none" strike="noStrike">
              <a:solidFill>
                <a:srgbClr val="000000"/>
              </a:solidFill>
              <a:latin typeface="Times"/>
              <a:ea typeface="Times"/>
              <a:cs typeface="Times"/>
              <a:sym typeface="Time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23" name="Shape 123"/>
        <p:cNvGrpSpPr/>
        <p:nvPr/>
      </p:nvGrpSpPr>
      <p:grpSpPr>
        <a:xfrm>
          <a:off x="0" y="0"/>
          <a:ext cx="0" cy="0"/>
          <a:chOff x="0" y="0"/>
          <a:chExt cx="0" cy="0"/>
        </a:xfrm>
      </p:grpSpPr>
      <p:sp>
        <p:nvSpPr>
          <p:cNvPr id="124" name="Google Shape;124;p17"/>
          <p:cNvSpPr/>
          <p:nvPr/>
        </p:nvSpPr>
        <p:spPr>
          <a:xfrm>
            <a:off x="0" y="10134600"/>
            <a:ext cx="18288000" cy="152400"/>
          </a:xfrm>
          <a:custGeom>
            <a:rect b="b" l="l" r="r" t="t"/>
            <a:pathLst>
              <a:path extrusionOk="0" h="203200" w="24384000">
                <a:moveTo>
                  <a:pt x="0" y="0"/>
                </a:moveTo>
                <a:lnTo>
                  <a:pt x="24384000" y="0"/>
                </a:lnTo>
                <a:lnTo>
                  <a:pt x="24384000" y="203200"/>
                </a:lnTo>
                <a:lnTo>
                  <a:pt x="0" y="203200"/>
                </a:lnTo>
                <a:lnTo>
                  <a:pt x="0" y="0"/>
                </a:lnTo>
                <a:close/>
              </a:path>
            </a:pathLst>
          </a:custGeom>
          <a:blipFill rotWithShape="1">
            <a:blip r:embed="rId3">
              <a:alphaModFix/>
            </a:blip>
            <a:stretch>
              <a:fillRect b="0" l="0" r="0" t="0"/>
            </a:stretch>
          </a:blipFill>
          <a:ln>
            <a:noFill/>
          </a:ln>
        </p:spPr>
      </p:sp>
      <p:sp>
        <p:nvSpPr>
          <p:cNvPr id="125" name="Google Shape;125;p17"/>
          <p:cNvSpPr/>
          <p:nvPr/>
        </p:nvSpPr>
        <p:spPr>
          <a:xfrm>
            <a:off x="538220" y="9058418"/>
            <a:ext cx="2048732" cy="898494"/>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4">
              <a:alphaModFix/>
            </a:blip>
            <a:stretch>
              <a:fillRect b="-164802" l="-72592" r="-72212" t="-164493"/>
            </a:stretch>
          </a:blipFill>
          <a:ln>
            <a:noFill/>
          </a:ln>
        </p:spPr>
      </p:sp>
      <p:sp>
        <p:nvSpPr>
          <p:cNvPr id="126" name="Google Shape;126;p17"/>
          <p:cNvSpPr txBox="1"/>
          <p:nvPr/>
        </p:nvSpPr>
        <p:spPr>
          <a:xfrm>
            <a:off x="3608053" y="1288055"/>
            <a:ext cx="111681" cy="732012"/>
          </a:xfrm>
          <a:prstGeom prst="rect">
            <a:avLst/>
          </a:prstGeom>
          <a:noFill/>
          <a:ln>
            <a:noFill/>
          </a:ln>
        </p:spPr>
        <p:txBody>
          <a:bodyPr anchorCtr="0" anchor="t" bIns="0" lIns="0" spcFirstLastPara="1" rIns="0" wrap="square" tIns="0">
            <a:spAutoFit/>
          </a:bodyPr>
          <a:lstStyle/>
          <a:p>
            <a:pPr indent="0" lvl="0" marL="0" marR="0" rtl="0" algn="l">
              <a:lnSpc>
                <a:spcPct val="171530"/>
              </a:lnSpc>
              <a:spcBef>
                <a:spcPts val="0"/>
              </a:spcBef>
              <a:spcAft>
                <a:spcPts val="0"/>
              </a:spcAft>
              <a:buNone/>
            </a:pPr>
            <a:r>
              <a:rPr b="1" i="0" lang="en-US" sz="3516" u="none" cap="none" strike="noStrike">
                <a:solidFill>
                  <a:srgbClr val="000000"/>
                </a:solidFill>
                <a:latin typeface="Times"/>
                <a:ea typeface="Times"/>
                <a:cs typeface="Times"/>
                <a:sym typeface="Times"/>
              </a:rPr>
              <a:t> </a:t>
            </a:r>
            <a:endParaRPr/>
          </a:p>
        </p:txBody>
      </p:sp>
      <p:sp>
        <p:nvSpPr>
          <p:cNvPr id="127" name="Google Shape;127;p17"/>
          <p:cNvSpPr txBox="1"/>
          <p:nvPr/>
        </p:nvSpPr>
        <p:spPr>
          <a:xfrm>
            <a:off x="1028700" y="1673684"/>
            <a:ext cx="16845600" cy="7775100"/>
          </a:xfrm>
          <a:prstGeom prst="rect">
            <a:avLst/>
          </a:prstGeom>
          <a:noFill/>
          <a:ln>
            <a:noFill/>
          </a:ln>
        </p:spPr>
        <p:txBody>
          <a:bodyPr anchorCtr="0" anchor="t" bIns="0" lIns="0" spcFirstLastPara="1" rIns="0" wrap="square" tIns="0">
            <a:spAutoFit/>
          </a:bodyPr>
          <a:lstStyle/>
          <a:p>
            <a:pPr indent="-385426" lvl="1" marL="770853" marR="0" rtl="0" algn="l">
              <a:lnSpc>
                <a:spcPct val="140000"/>
              </a:lnSpc>
              <a:spcBef>
                <a:spcPts val="0"/>
              </a:spcBef>
              <a:spcAft>
                <a:spcPts val="0"/>
              </a:spcAft>
              <a:buClr>
                <a:srgbClr val="000000"/>
              </a:buClr>
              <a:buSzPts val="3570"/>
              <a:buFont typeface="Arial"/>
              <a:buChar char="•"/>
            </a:pPr>
            <a:r>
              <a:rPr b="0" i="0" lang="en-US" sz="3570" u="none" cap="none" strike="noStrike">
                <a:solidFill>
                  <a:srgbClr val="000000"/>
                </a:solidFill>
                <a:latin typeface="Times New Roman"/>
                <a:ea typeface="Times New Roman"/>
                <a:cs typeface="Times New Roman"/>
                <a:sym typeface="Times New Roman"/>
              </a:rPr>
              <a:t>Student Demand : </a:t>
            </a:r>
            <a:endParaRPr/>
          </a:p>
          <a:p>
            <a:pPr indent="0" lvl="0" marL="0" marR="0" rtl="0" algn="l">
              <a:lnSpc>
                <a:spcPct val="140000"/>
              </a:lnSpc>
              <a:spcBef>
                <a:spcPts val="0"/>
              </a:spcBef>
              <a:spcAft>
                <a:spcPts val="0"/>
              </a:spcAft>
              <a:buNone/>
            </a:pPr>
            <a:r>
              <a:t/>
            </a:r>
            <a:endParaRPr b="0" i="0" sz="3570" u="none" cap="none" strike="noStrike">
              <a:solidFill>
                <a:srgbClr val="000000"/>
              </a:solidFill>
              <a:latin typeface="Times New Roman"/>
              <a:ea typeface="Times New Roman"/>
              <a:cs typeface="Times New Roman"/>
              <a:sym typeface="Times New Roman"/>
            </a:endParaRPr>
          </a:p>
          <a:p>
            <a:pPr indent="-385426" lvl="1" marL="770853" marR="0" rtl="0" algn="l">
              <a:lnSpc>
                <a:spcPct val="140000"/>
              </a:lnSpc>
              <a:spcBef>
                <a:spcPts val="0"/>
              </a:spcBef>
              <a:spcAft>
                <a:spcPts val="0"/>
              </a:spcAft>
              <a:buClr>
                <a:srgbClr val="000000"/>
              </a:buClr>
              <a:buSzPts val="3570"/>
              <a:buFont typeface="Arial"/>
              <a:buChar char="•"/>
            </a:pPr>
            <a:r>
              <a:rPr b="0" i="0" lang="en-US" sz="3570" u="none" cap="none" strike="noStrike">
                <a:solidFill>
                  <a:srgbClr val="000000"/>
                </a:solidFill>
                <a:latin typeface="Times New Roman"/>
                <a:ea typeface="Times New Roman"/>
                <a:cs typeface="Times New Roman"/>
                <a:sym typeface="Times New Roman"/>
              </a:rPr>
              <a:t>Student Spatial Location: </a:t>
            </a:r>
            <a:endParaRPr/>
          </a:p>
          <a:p>
            <a:pPr indent="0" lvl="0" marL="0" marR="0" rtl="0" algn="l">
              <a:lnSpc>
                <a:spcPct val="140000"/>
              </a:lnSpc>
              <a:spcBef>
                <a:spcPts val="0"/>
              </a:spcBef>
              <a:spcAft>
                <a:spcPts val="0"/>
              </a:spcAft>
              <a:buNone/>
            </a:pPr>
            <a:r>
              <a:t/>
            </a:r>
            <a:endParaRPr b="0" i="0" sz="3570" u="none" cap="none" strike="noStrike">
              <a:solidFill>
                <a:srgbClr val="000000"/>
              </a:solidFill>
              <a:latin typeface="Times New Roman"/>
              <a:ea typeface="Times New Roman"/>
              <a:cs typeface="Times New Roman"/>
              <a:sym typeface="Times New Roman"/>
            </a:endParaRPr>
          </a:p>
          <a:p>
            <a:pPr indent="-385426" lvl="1" marL="770853" marR="0" rtl="0" algn="l">
              <a:lnSpc>
                <a:spcPct val="140000"/>
              </a:lnSpc>
              <a:spcBef>
                <a:spcPts val="0"/>
              </a:spcBef>
              <a:spcAft>
                <a:spcPts val="0"/>
              </a:spcAft>
              <a:buClr>
                <a:srgbClr val="000000"/>
              </a:buClr>
              <a:buSzPts val="3570"/>
              <a:buFont typeface="Arial"/>
              <a:buChar char="•"/>
            </a:pPr>
            <a:r>
              <a:rPr b="0" i="0" lang="en-US" sz="3570" u="none" cap="none" strike="noStrike">
                <a:solidFill>
                  <a:srgbClr val="000000"/>
                </a:solidFill>
                <a:latin typeface="Times New Roman"/>
                <a:ea typeface="Times New Roman"/>
                <a:cs typeface="Times New Roman"/>
                <a:sym typeface="Times New Roman"/>
              </a:rPr>
              <a:t>Walking distance: </a:t>
            </a:r>
            <a:endParaRPr/>
          </a:p>
          <a:p>
            <a:pPr indent="0" lvl="0" marL="0" marR="0" rtl="0" algn="l">
              <a:lnSpc>
                <a:spcPct val="140000"/>
              </a:lnSpc>
              <a:spcBef>
                <a:spcPts val="0"/>
              </a:spcBef>
              <a:spcAft>
                <a:spcPts val="0"/>
              </a:spcAft>
              <a:buNone/>
            </a:pPr>
            <a:r>
              <a:t/>
            </a:r>
            <a:endParaRPr b="0" i="0" sz="3570" u="none" cap="none" strike="noStrike">
              <a:solidFill>
                <a:srgbClr val="000000"/>
              </a:solidFill>
              <a:latin typeface="Times New Roman"/>
              <a:ea typeface="Times New Roman"/>
              <a:cs typeface="Times New Roman"/>
              <a:sym typeface="Times New Roman"/>
            </a:endParaRPr>
          </a:p>
          <a:p>
            <a:pPr indent="-385426" lvl="1" marL="770853" marR="0" rtl="0" algn="l">
              <a:lnSpc>
                <a:spcPct val="140000"/>
              </a:lnSpc>
              <a:spcBef>
                <a:spcPts val="0"/>
              </a:spcBef>
              <a:spcAft>
                <a:spcPts val="0"/>
              </a:spcAft>
              <a:buClr>
                <a:srgbClr val="000000"/>
              </a:buClr>
              <a:buSzPts val="3570"/>
              <a:buFont typeface="Arial"/>
              <a:buChar char="•"/>
            </a:pPr>
            <a:r>
              <a:rPr b="0" i="0" lang="en-US" sz="3570" u="none" cap="none" strike="noStrike">
                <a:solidFill>
                  <a:srgbClr val="000000"/>
                </a:solidFill>
                <a:latin typeface="Times New Roman"/>
                <a:ea typeface="Times New Roman"/>
                <a:cs typeface="Times New Roman"/>
                <a:sym typeface="Times New Roman"/>
              </a:rPr>
              <a:t>Traffic Speed:</a:t>
            </a:r>
            <a:endParaRPr/>
          </a:p>
          <a:p>
            <a:pPr indent="0" lvl="0" marL="0" marR="0" rtl="0" algn="l">
              <a:lnSpc>
                <a:spcPct val="140000"/>
              </a:lnSpc>
              <a:spcBef>
                <a:spcPts val="0"/>
              </a:spcBef>
              <a:spcAft>
                <a:spcPts val="0"/>
              </a:spcAft>
              <a:buNone/>
            </a:pPr>
            <a:r>
              <a:t/>
            </a:r>
            <a:endParaRPr/>
          </a:p>
          <a:p>
            <a:pPr indent="-385426" lvl="1" marL="770853" marR="0" rtl="0" algn="l">
              <a:lnSpc>
                <a:spcPct val="140000"/>
              </a:lnSpc>
              <a:spcBef>
                <a:spcPts val="0"/>
              </a:spcBef>
              <a:spcAft>
                <a:spcPts val="0"/>
              </a:spcAft>
              <a:buClr>
                <a:srgbClr val="000000"/>
              </a:buClr>
              <a:buSzPts val="3570"/>
              <a:buFont typeface="Arial"/>
              <a:buChar char="•"/>
            </a:pPr>
            <a:r>
              <a:rPr b="0" i="0" lang="en-US" sz="3570" u="none" cap="none" strike="noStrike">
                <a:solidFill>
                  <a:srgbClr val="000000"/>
                </a:solidFill>
                <a:latin typeface="Times New Roman"/>
                <a:ea typeface="Times New Roman"/>
                <a:cs typeface="Times New Roman"/>
                <a:sym typeface="Times New Roman"/>
              </a:rPr>
              <a:t>Route Travel Time: </a:t>
            </a:r>
            <a:endParaRPr b="0" i="0" sz="3570" u="none" cap="none" strike="noStrike">
              <a:solidFill>
                <a:srgbClr val="000000"/>
              </a:solidFill>
              <a:latin typeface="Times New Roman"/>
              <a:ea typeface="Times New Roman"/>
              <a:cs typeface="Times New Roman"/>
              <a:sym typeface="Times New Roman"/>
            </a:endParaRPr>
          </a:p>
          <a:p>
            <a:pPr indent="-385426" lvl="1" marL="770853" marR="0" rtl="0" algn="l">
              <a:lnSpc>
                <a:spcPct val="140000"/>
              </a:lnSpc>
              <a:spcBef>
                <a:spcPts val="0"/>
              </a:spcBef>
              <a:spcAft>
                <a:spcPts val="0"/>
              </a:spcAft>
              <a:buClr>
                <a:srgbClr val="000000"/>
              </a:buClr>
              <a:buSzPts val="3570"/>
              <a:buFont typeface="Arial"/>
              <a:buChar char="•"/>
            </a:pPr>
            <a:r>
              <a:rPr b="0" i="0" lang="en-US" sz="3570" u="none" cap="none" strike="noStrike">
                <a:solidFill>
                  <a:srgbClr val="000000"/>
                </a:solidFill>
                <a:latin typeface="Times New Roman"/>
                <a:ea typeface="Times New Roman"/>
                <a:cs typeface="Times New Roman"/>
                <a:sym typeface="Times New Roman"/>
              </a:rPr>
              <a:t>Total System Travel Time(Multiple buses):  </a:t>
            </a:r>
            <a:endParaRPr/>
          </a:p>
          <a:p>
            <a:pPr indent="0" lvl="0" marL="0" marR="0" rtl="0" algn="l">
              <a:lnSpc>
                <a:spcPct val="140000"/>
              </a:lnSpc>
              <a:spcBef>
                <a:spcPts val="0"/>
              </a:spcBef>
              <a:spcAft>
                <a:spcPts val="0"/>
              </a:spcAft>
              <a:buNone/>
            </a:pPr>
            <a:r>
              <a:t/>
            </a:r>
            <a:endParaRPr b="0" i="0" sz="3570" u="none" cap="none" strike="noStrike">
              <a:solidFill>
                <a:srgbClr val="000000"/>
              </a:solidFill>
              <a:latin typeface="Times New Roman"/>
              <a:ea typeface="Times New Roman"/>
              <a:cs typeface="Times New Roman"/>
              <a:sym typeface="Times New Roman"/>
            </a:endParaRPr>
          </a:p>
        </p:txBody>
      </p:sp>
      <p:pic>
        <p:nvPicPr>
          <p:cNvPr id="128" name="Google Shape;128;p17"/>
          <p:cNvPicPr preferRelativeResize="0"/>
          <p:nvPr/>
        </p:nvPicPr>
        <p:blipFill rotWithShape="1">
          <a:blip r:embed="rId5">
            <a:alphaModFix/>
          </a:blip>
          <a:srcRect b="0" l="0" r="0" t="0"/>
          <a:stretch/>
        </p:blipFill>
        <p:spPr>
          <a:xfrm>
            <a:off x="4676911" y="5438713"/>
            <a:ext cx="3545503" cy="1973490"/>
          </a:xfrm>
          <a:prstGeom prst="rect">
            <a:avLst/>
          </a:prstGeom>
          <a:noFill/>
          <a:ln>
            <a:noFill/>
          </a:ln>
        </p:spPr>
      </p:pic>
      <p:pic>
        <p:nvPicPr>
          <p:cNvPr id="129" name="Google Shape;129;p17"/>
          <p:cNvPicPr preferRelativeResize="0"/>
          <p:nvPr/>
        </p:nvPicPr>
        <p:blipFill rotWithShape="1">
          <a:blip r:embed="rId6">
            <a:alphaModFix/>
          </a:blip>
          <a:srcRect b="0" l="0" r="0" t="0"/>
          <a:stretch/>
        </p:blipFill>
        <p:spPr>
          <a:xfrm>
            <a:off x="4911207" y="1462178"/>
            <a:ext cx="4356731" cy="1254144"/>
          </a:xfrm>
          <a:prstGeom prst="rect">
            <a:avLst/>
          </a:prstGeom>
          <a:noFill/>
          <a:ln>
            <a:noFill/>
          </a:ln>
        </p:spPr>
      </p:pic>
      <p:pic>
        <p:nvPicPr>
          <p:cNvPr id="130" name="Google Shape;130;p17"/>
          <p:cNvPicPr preferRelativeResize="0"/>
          <p:nvPr/>
        </p:nvPicPr>
        <p:blipFill rotWithShape="1">
          <a:blip r:embed="rId7">
            <a:alphaModFix/>
          </a:blip>
          <a:srcRect b="0" l="0" r="0" t="0"/>
          <a:stretch/>
        </p:blipFill>
        <p:spPr>
          <a:xfrm>
            <a:off x="6359669" y="2647308"/>
            <a:ext cx="3801967" cy="1183188"/>
          </a:xfrm>
          <a:prstGeom prst="rect">
            <a:avLst/>
          </a:prstGeom>
          <a:noFill/>
          <a:ln>
            <a:noFill/>
          </a:ln>
        </p:spPr>
      </p:pic>
      <p:pic>
        <p:nvPicPr>
          <p:cNvPr id="131" name="Google Shape;131;p17"/>
          <p:cNvPicPr preferRelativeResize="0"/>
          <p:nvPr/>
        </p:nvPicPr>
        <p:blipFill rotWithShape="1">
          <a:blip r:embed="rId8">
            <a:alphaModFix/>
          </a:blip>
          <a:srcRect b="0" l="0" r="0" t="0"/>
          <a:stretch/>
        </p:blipFill>
        <p:spPr>
          <a:xfrm>
            <a:off x="4870154" y="3978366"/>
            <a:ext cx="4849363" cy="1393022"/>
          </a:xfrm>
          <a:prstGeom prst="rect">
            <a:avLst/>
          </a:prstGeom>
          <a:noFill/>
          <a:ln>
            <a:noFill/>
          </a:ln>
        </p:spPr>
      </p:pic>
      <p:pic>
        <p:nvPicPr>
          <p:cNvPr id="132" name="Google Shape;132;p17"/>
          <p:cNvPicPr preferRelativeResize="0"/>
          <p:nvPr/>
        </p:nvPicPr>
        <p:blipFill rotWithShape="1">
          <a:blip r:embed="rId9">
            <a:alphaModFix/>
          </a:blip>
          <a:srcRect b="0" l="0" r="0" t="0"/>
          <a:stretch/>
        </p:blipFill>
        <p:spPr>
          <a:xfrm>
            <a:off x="6744257" y="6633450"/>
            <a:ext cx="2683566" cy="1393025"/>
          </a:xfrm>
          <a:prstGeom prst="rect">
            <a:avLst/>
          </a:prstGeom>
          <a:noFill/>
          <a:ln>
            <a:noFill/>
          </a:ln>
        </p:spPr>
      </p:pic>
      <p:pic>
        <p:nvPicPr>
          <p:cNvPr id="133" name="Google Shape;133;p17"/>
          <p:cNvPicPr preferRelativeResize="0"/>
          <p:nvPr/>
        </p:nvPicPr>
        <p:blipFill rotWithShape="1">
          <a:blip r:embed="rId10">
            <a:alphaModFix/>
          </a:blip>
          <a:srcRect b="0" l="0" r="0" t="0"/>
          <a:stretch/>
        </p:blipFill>
        <p:spPr>
          <a:xfrm>
            <a:off x="10034925" y="7796802"/>
            <a:ext cx="2417378" cy="1393025"/>
          </a:xfrm>
          <a:prstGeom prst="rect">
            <a:avLst/>
          </a:prstGeom>
          <a:noFill/>
          <a:ln>
            <a:noFill/>
          </a:ln>
        </p:spPr>
      </p:pic>
      <p:sp>
        <p:nvSpPr>
          <p:cNvPr id="134" name="Google Shape;134;p17"/>
          <p:cNvSpPr txBox="1"/>
          <p:nvPr/>
        </p:nvSpPr>
        <p:spPr>
          <a:xfrm>
            <a:off x="5345373" y="383425"/>
            <a:ext cx="9881700" cy="911700"/>
          </a:xfrm>
          <a:prstGeom prst="rect">
            <a:avLst/>
          </a:prstGeom>
          <a:noFill/>
          <a:ln>
            <a:noFill/>
          </a:ln>
        </p:spPr>
        <p:txBody>
          <a:bodyPr anchorCtr="0" anchor="t" bIns="0" lIns="0" spcFirstLastPara="1" rIns="0" wrap="square" tIns="0">
            <a:spAutoFit/>
          </a:bodyPr>
          <a:lstStyle/>
          <a:p>
            <a:pPr indent="0" lvl="0" marL="0" marR="0" rtl="0" algn="l">
              <a:lnSpc>
                <a:spcPct val="94195"/>
              </a:lnSpc>
              <a:spcBef>
                <a:spcPts val="0"/>
              </a:spcBef>
              <a:spcAft>
                <a:spcPts val="0"/>
              </a:spcAft>
              <a:buNone/>
            </a:pPr>
            <a:r>
              <a:rPr b="1" i="0" lang="en-US" sz="6288" u="none" cap="none" strike="noStrike">
                <a:solidFill>
                  <a:srgbClr val="000000"/>
                </a:solidFill>
                <a:latin typeface="Times"/>
                <a:ea typeface="Times"/>
                <a:cs typeface="Times"/>
                <a:sym typeface="Times"/>
              </a:rPr>
              <a:t>Mathematical </a:t>
            </a:r>
            <a:r>
              <a:rPr b="1" lang="en-US" sz="6288">
                <a:latin typeface="Times"/>
                <a:ea typeface="Times"/>
                <a:cs typeface="Times"/>
                <a:sym typeface="Times"/>
              </a:rPr>
              <a:t>M</a:t>
            </a:r>
            <a:r>
              <a:rPr b="1" i="0" lang="en-US" sz="6288" u="none" cap="none" strike="noStrike">
                <a:solidFill>
                  <a:srgbClr val="000000"/>
                </a:solidFill>
                <a:latin typeface="Times"/>
                <a:ea typeface="Times"/>
                <a:cs typeface="Times"/>
                <a:sym typeface="Times"/>
              </a:rPr>
              <a:t>odel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38" name="Shape 138"/>
        <p:cNvGrpSpPr/>
        <p:nvPr/>
      </p:nvGrpSpPr>
      <p:grpSpPr>
        <a:xfrm>
          <a:off x="0" y="0"/>
          <a:ext cx="0" cy="0"/>
          <a:chOff x="0" y="0"/>
          <a:chExt cx="0" cy="0"/>
        </a:xfrm>
      </p:grpSpPr>
      <p:sp>
        <p:nvSpPr>
          <p:cNvPr id="139" name="Google Shape;139;p18"/>
          <p:cNvSpPr/>
          <p:nvPr/>
        </p:nvSpPr>
        <p:spPr>
          <a:xfrm>
            <a:off x="2311877" y="1700852"/>
            <a:ext cx="12827810" cy="6891645"/>
          </a:xfrm>
          <a:custGeom>
            <a:rect b="b" l="l" r="r" t="t"/>
            <a:pathLst>
              <a:path extrusionOk="0" h="6891645" w="12827810">
                <a:moveTo>
                  <a:pt x="0" y="0"/>
                </a:moveTo>
                <a:lnTo>
                  <a:pt x="12827811" y="0"/>
                </a:lnTo>
                <a:lnTo>
                  <a:pt x="12827811" y="6891644"/>
                </a:lnTo>
                <a:lnTo>
                  <a:pt x="0" y="6891644"/>
                </a:lnTo>
                <a:lnTo>
                  <a:pt x="0" y="0"/>
                </a:lnTo>
                <a:close/>
              </a:path>
            </a:pathLst>
          </a:custGeom>
          <a:blipFill rotWithShape="1">
            <a:blip r:embed="rId3">
              <a:alphaModFix/>
            </a:blip>
            <a:stretch>
              <a:fillRect b="0" l="-186" r="-1068" t="-831"/>
            </a:stretch>
          </a:blipFill>
          <a:ln>
            <a:noFill/>
          </a:ln>
        </p:spPr>
      </p:sp>
      <p:sp>
        <p:nvSpPr>
          <p:cNvPr id="140" name="Google Shape;140;p18"/>
          <p:cNvSpPr txBox="1"/>
          <p:nvPr/>
        </p:nvSpPr>
        <p:spPr>
          <a:xfrm>
            <a:off x="4611368" y="403999"/>
            <a:ext cx="8228829" cy="830931"/>
          </a:xfrm>
          <a:prstGeom prst="rect">
            <a:avLst/>
          </a:prstGeom>
          <a:noFill/>
          <a:ln>
            <a:noFill/>
          </a:ln>
        </p:spPr>
        <p:txBody>
          <a:bodyPr anchorCtr="0" anchor="t" bIns="0" lIns="0" spcFirstLastPara="1" rIns="0" wrap="square" tIns="0">
            <a:spAutoFit/>
          </a:bodyPr>
          <a:lstStyle/>
          <a:p>
            <a:pPr indent="0" lvl="0" marL="0" marR="0" rtl="0" algn="l">
              <a:lnSpc>
                <a:spcPct val="94195"/>
              </a:lnSpc>
              <a:spcBef>
                <a:spcPts val="0"/>
              </a:spcBef>
              <a:spcAft>
                <a:spcPts val="0"/>
              </a:spcAft>
              <a:buNone/>
            </a:pPr>
            <a:r>
              <a:rPr b="1" i="0" lang="en-US" sz="6288" u="none" cap="none" strike="noStrike">
                <a:solidFill>
                  <a:srgbClr val="000000"/>
                </a:solidFill>
                <a:latin typeface="Times"/>
                <a:ea typeface="Times"/>
                <a:cs typeface="Times"/>
                <a:sym typeface="Times"/>
              </a:rPr>
              <a:t>Deterministic Approach</a:t>
            </a:r>
            <a:endParaRPr/>
          </a:p>
        </p:txBody>
      </p:sp>
      <p:sp>
        <p:nvSpPr>
          <p:cNvPr id="141" name="Google Shape;141;p18"/>
          <p:cNvSpPr/>
          <p:nvPr/>
        </p:nvSpPr>
        <p:spPr>
          <a:xfrm>
            <a:off x="0" y="10134600"/>
            <a:ext cx="18288000" cy="152400"/>
          </a:xfrm>
          <a:custGeom>
            <a:rect b="b" l="l" r="r" t="t"/>
            <a:pathLst>
              <a:path extrusionOk="0" h="203200" w="24384000">
                <a:moveTo>
                  <a:pt x="0" y="0"/>
                </a:moveTo>
                <a:lnTo>
                  <a:pt x="24384000" y="0"/>
                </a:lnTo>
                <a:lnTo>
                  <a:pt x="24384000" y="203200"/>
                </a:lnTo>
                <a:lnTo>
                  <a:pt x="0" y="203200"/>
                </a:lnTo>
                <a:lnTo>
                  <a:pt x="0" y="0"/>
                </a:lnTo>
                <a:close/>
              </a:path>
            </a:pathLst>
          </a:custGeom>
          <a:blipFill rotWithShape="1">
            <a:blip r:embed="rId4">
              <a:alphaModFix/>
            </a:blip>
            <a:stretch>
              <a:fillRect b="0" l="0" r="0" t="0"/>
            </a:stretch>
          </a:blipFill>
          <a:ln>
            <a:noFill/>
          </a:ln>
        </p:spPr>
      </p:sp>
      <p:sp>
        <p:nvSpPr>
          <p:cNvPr id="142" name="Google Shape;142;p18"/>
          <p:cNvSpPr/>
          <p:nvPr/>
        </p:nvSpPr>
        <p:spPr>
          <a:xfrm>
            <a:off x="538220" y="9058418"/>
            <a:ext cx="2048732" cy="898494"/>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5">
              <a:alphaModFix/>
            </a:blip>
            <a:stretch>
              <a:fillRect b="-164802" l="-72592" r="-72212" t="-164493"/>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46" name="Shape 146"/>
        <p:cNvGrpSpPr/>
        <p:nvPr/>
      </p:nvGrpSpPr>
      <p:grpSpPr>
        <a:xfrm>
          <a:off x="0" y="0"/>
          <a:ext cx="0" cy="0"/>
          <a:chOff x="0" y="0"/>
          <a:chExt cx="0" cy="0"/>
        </a:xfrm>
      </p:grpSpPr>
      <p:sp>
        <p:nvSpPr>
          <p:cNvPr id="147" name="Google Shape;147;p19"/>
          <p:cNvSpPr/>
          <p:nvPr/>
        </p:nvSpPr>
        <p:spPr>
          <a:xfrm>
            <a:off x="0" y="10134600"/>
            <a:ext cx="18288000" cy="152400"/>
          </a:xfrm>
          <a:custGeom>
            <a:rect b="b" l="l" r="r" t="t"/>
            <a:pathLst>
              <a:path extrusionOk="0" h="203200" w="24384000">
                <a:moveTo>
                  <a:pt x="0" y="0"/>
                </a:moveTo>
                <a:lnTo>
                  <a:pt x="24384000" y="0"/>
                </a:lnTo>
                <a:lnTo>
                  <a:pt x="24384000" y="203200"/>
                </a:lnTo>
                <a:lnTo>
                  <a:pt x="0" y="203200"/>
                </a:lnTo>
                <a:lnTo>
                  <a:pt x="0" y="0"/>
                </a:lnTo>
                <a:close/>
              </a:path>
            </a:pathLst>
          </a:custGeom>
          <a:blipFill rotWithShape="1">
            <a:blip r:embed="rId3">
              <a:alphaModFix/>
            </a:blip>
            <a:stretch>
              <a:fillRect b="0" l="0" r="0" t="0"/>
            </a:stretch>
          </a:blipFill>
          <a:ln>
            <a:noFill/>
          </a:ln>
        </p:spPr>
      </p:sp>
      <p:sp>
        <p:nvSpPr>
          <p:cNvPr id="148" name="Google Shape;148;p19"/>
          <p:cNvSpPr/>
          <p:nvPr/>
        </p:nvSpPr>
        <p:spPr>
          <a:xfrm>
            <a:off x="538220" y="9058418"/>
            <a:ext cx="2048732" cy="898494"/>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4">
              <a:alphaModFix/>
            </a:blip>
            <a:stretch>
              <a:fillRect b="-164802" l="-72592" r="-72212" t="-164493"/>
            </a:stretch>
          </a:blipFill>
          <a:ln>
            <a:noFill/>
          </a:ln>
        </p:spPr>
      </p:sp>
      <p:sp>
        <p:nvSpPr>
          <p:cNvPr id="149" name="Google Shape;149;p19"/>
          <p:cNvSpPr/>
          <p:nvPr/>
        </p:nvSpPr>
        <p:spPr>
          <a:xfrm>
            <a:off x="4139561" y="1576721"/>
            <a:ext cx="9577470" cy="7930939"/>
          </a:xfrm>
          <a:custGeom>
            <a:rect b="b" l="l" r="r" t="t"/>
            <a:pathLst>
              <a:path extrusionOk="0" h="7930939" w="9577470">
                <a:moveTo>
                  <a:pt x="0" y="0"/>
                </a:moveTo>
                <a:lnTo>
                  <a:pt x="9577470" y="0"/>
                </a:lnTo>
                <a:lnTo>
                  <a:pt x="9577470" y="7930939"/>
                </a:lnTo>
                <a:lnTo>
                  <a:pt x="0" y="7930939"/>
                </a:lnTo>
                <a:lnTo>
                  <a:pt x="0" y="0"/>
                </a:lnTo>
                <a:close/>
              </a:path>
            </a:pathLst>
          </a:custGeom>
          <a:blipFill rotWithShape="1">
            <a:blip r:embed="rId5">
              <a:alphaModFix/>
            </a:blip>
            <a:stretch>
              <a:fillRect b="-487" l="0" r="-2359" t="-175"/>
            </a:stretch>
          </a:blipFill>
          <a:ln>
            <a:noFill/>
          </a:ln>
        </p:spPr>
      </p:sp>
      <p:sp>
        <p:nvSpPr>
          <p:cNvPr id="150" name="Google Shape;150;p19"/>
          <p:cNvSpPr txBox="1"/>
          <p:nvPr/>
        </p:nvSpPr>
        <p:spPr>
          <a:xfrm>
            <a:off x="4689183" y="428958"/>
            <a:ext cx="8677330" cy="838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6000" u="none" cap="none" strike="noStrike">
                <a:solidFill>
                  <a:srgbClr val="000000"/>
                </a:solidFill>
                <a:latin typeface="Times"/>
                <a:ea typeface="Times"/>
                <a:cs typeface="Times"/>
                <a:sym typeface="Times"/>
              </a:rPr>
              <a:t>Randomized approach:</a:t>
            </a:r>
            <a:endParaRPr/>
          </a:p>
        </p:txBody>
      </p:sp>
      <p:sp>
        <p:nvSpPr>
          <p:cNvPr id="151" name="Google Shape;151;p19"/>
          <p:cNvSpPr txBox="1"/>
          <p:nvPr/>
        </p:nvSpPr>
        <p:spPr>
          <a:xfrm>
            <a:off x="1849260" y="1112853"/>
            <a:ext cx="95250" cy="689610"/>
          </a:xfrm>
          <a:prstGeom prst="rect">
            <a:avLst/>
          </a:prstGeom>
          <a:noFill/>
          <a:ln>
            <a:noFill/>
          </a:ln>
        </p:spPr>
        <p:txBody>
          <a:bodyPr anchorCtr="0" anchor="t" bIns="0" lIns="0" spcFirstLastPara="1" rIns="0" wrap="square" tIns="0">
            <a:spAutoFit/>
          </a:bodyPr>
          <a:lstStyle/>
          <a:p>
            <a:pPr indent="0" lvl="0" marL="0" marR="0" rtl="0" algn="l">
              <a:lnSpc>
                <a:spcPct val="196500"/>
              </a:lnSpc>
              <a:spcBef>
                <a:spcPts val="0"/>
              </a:spcBef>
              <a:spcAft>
                <a:spcPts val="0"/>
              </a:spcAft>
              <a:buNone/>
            </a:pPr>
            <a:r>
              <a:rPr b="1" i="0" lang="en-US" sz="3000" u="none" cap="none" strike="noStrike">
                <a:solidFill>
                  <a:srgbClr val="000000"/>
                </a:solidFill>
                <a:latin typeface="Times"/>
                <a:ea typeface="Times"/>
                <a:cs typeface="Times"/>
                <a:sym typeface="Times"/>
              </a:rPr>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55" name="Shape 155"/>
        <p:cNvGrpSpPr/>
        <p:nvPr/>
      </p:nvGrpSpPr>
      <p:grpSpPr>
        <a:xfrm>
          <a:off x="0" y="0"/>
          <a:ext cx="0" cy="0"/>
          <a:chOff x="0" y="0"/>
          <a:chExt cx="0" cy="0"/>
        </a:xfrm>
      </p:grpSpPr>
      <p:sp>
        <p:nvSpPr>
          <p:cNvPr id="156" name="Google Shape;156;p20"/>
          <p:cNvSpPr/>
          <p:nvPr/>
        </p:nvSpPr>
        <p:spPr>
          <a:xfrm>
            <a:off x="0" y="10134600"/>
            <a:ext cx="18288000" cy="152400"/>
          </a:xfrm>
          <a:custGeom>
            <a:rect b="b" l="l" r="r" t="t"/>
            <a:pathLst>
              <a:path extrusionOk="0" h="203200" w="24384000">
                <a:moveTo>
                  <a:pt x="0" y="0"/>
                </a:moveTo>
                <a:lnTo>
                  <a:pt x="24384000" y="0"/>
                </a:lnTo>
                <a:lnTo>
                  <a:pt x="24384000" y="203200"/>
                </a:lnTo>
                <a:lnTo>
                  <a:pt x="0" y="203200"/>
                </a:lnTo>
                <a:lnTo>
                  <a:pt x="0" y="0"/>
                </a:lnTo>
                <a:close/>
              </a:path>
            </a:pathLst>
          </a:custGeom>
          <a:blipFill rotWithShape="1">
            <a:blip r:embed="rId3">
              <a:alphaModFix/>
            </a:blip>
            <a:stretch>
              <a:fillRect b="0" l="0" r="0" t="0"/>
            </a:stretch>
          </a:blipFill>
          <a:ln>
            <a:noFill/>
          </a:ln>
        </p:spPr>
      </p:sp>
      <p:sp>
        <p:nvSpPr>
          <p:cNvPr id="157" name="Google Shape;157;p20"/>
          <p:cNvSpPr/>
          <p:nvPr/>
        </p:nvSpPr>
        <p:spPr>
          <a:xfrm>
            <a:off x="538220" y="9058418"/>
            <a:ext cx="2048732" cy="898494"/>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4">
              <a:alphaModFix/>
            </a:blip>
            <a:stretch>
              <a:fillRect b="-164802" l="-72592" r="-72212" t="-164493"/>
            </a:stretch>
          </a:blipFill>
          <a:ln>
            <a:noFill/>
          </a:ln>
        </p:spPr>
      </p:sp>
      <p:sp>
        <p:nvSpPr>
          <p:cNvPr id="158" name="Google Shape;158;p20"/>
          <p:cNvSpPr/>
          <p:nvPr/>
        </p:nvSpPr>
        <p:spPr>
          <a:xfrm>
            <a:off x="1338418" y="2726520"/>
            <a:ext cx="7024219" cy="6278884"/>
          </a:xfrm>
          <a:custGeom>
            <a:rect b="b" l="l" r="r" t="t"/>
            <a:pathLst>
              <a:path extrusionOk="0" h="6278884" w="7024219">
                <a:moveTo>
                  <a:pt x="0" y="0"/>
                </a:moveTo>
                <a:lnTo>
                  <a:pt x="7024219" y="0"/>
                </a:lnTo>
                <a:lnTo>
                  <a:pt x="7024219" y="6278884"/>
                </a:lnTo>
                <a:lnTo>
                  <a:pt x="0" y="6278884"/>
                </a:lnTo>
                <a:lnTo>
                  <a:pt x="0" y="0"/>
                </a:lnTo>
                <a:close/>
              </a:path>
            </a:pathLst>
          </a:custGeom>
          <a:blipFill rotWithShape="1">
            <a:blip r:embed="rId5">
              <a:alphaModFix/>
            </a:blip>
            <a:stretch>
              <a:fillRect b="0" l="0" r="0" t="0"/>
            </a:stretch>
          </a:blipFill>
          <a:ln>
            <a:noFill/>
          </a:ln>
        </p:spPr>
      </p:sp>
      <p:sp>
        <p:nvSpPr>
          <p:cNvPr id="159" name="Google Shape;159;p20"/>
          <p:cNvSpPr/>
          <p:nvPr/>
        </p:nvSpPr>
        <p:spPr>
          <a:xfrm>
            <a:off x="11644183" y="1945317"/>
            <a:ext cx="3970241" cy="7762227"/>
          </a:xfrm>
          <a:custGeom>
            <a:rect b="b" l="l" r="r" t="t"/>
            <a:pathLst>
              <a:path extrusionOk="0" h="7762227" w="3970241">
                <a:moveTo>
                  <a:pt x="0" y="0"/>
                </a:moveTo>
                <a:lnTo>
                  <a:pt x="3970241" y="0"/>
                </a:lnTo>
                <a:lnTo>
                  <a:pt x="3970241" y="7762227"/>
                </a:lnTo>
                <a:lnTo>
                  <a:pt x="0" y="7762227"/>
                </a:lnTo>
                <a:lnTo>
                  <a:pt x="0" y="0"/>
                </a:lnTo>
                <a:close/>
              </a:path>
            </a:pathLst>
          </a:custGeom>
          <a:blipFill rotWithShape="1">
            <a:blip r:embed="rId6">
              <a:alphaModFix/>
            </a:blip>
            <a:stretch>
              <a:fillRect b="0" l="0" r="-1885" t="0"/>
            </a:stretch>
          </a:blipFill>
          <a:ln>
            <a:noFill/>
          </a:ln>
        </p:spPr>
      </p:sp>
      <p:sp>
        <p:nvSpPr>
          <p:cNvPr id="160" name="Google Shape;160;p20"/>
          <p:cNvSpPr txBox="1"/>
          <p:nvPr/>
        </p:nvSpPr>
        <p:spPr>
          <a:xfrm>
            <a:off x="2229622" y="1334148"/>
            <a:ext cx="95250" cy="611169"/>
          </a:xfrm>
          <a:prstGeom prst="rect">
            <a:avLst/>
          </a:prstGeom>
          <a:noFill/>
          <a:ln>
            <a:noFill/>
          </a:ln>
        </p:spPr>
        <p:txBody>
          <a:bodyPr anchorCtr="0" anchor="t" bIns="0" lIns="0" spcFirstLastPara="1" rIns="0" wrap="square" tIns="0">
            <a:spAutoFit/>
          </a:bodyPr>
          <a:lstStyle/>
          <a:p>
            <a:pPr indent="0" lvl="0" marL="0" marR="0" rtl="0" algn="l">
              <a:lnSpc>
                <a:spcPct val="167089"/>
              </a:lnSpc>
              <a:spcBef>
                <a:spcPts val="0"/>
              </a:spcBef>
              <a:spcAft>
                <a:spcPts val="0"/>
              </a:spcAft>
              <a:buNone/>
            </a:pPr>
            <a:r>
              <a:rPr b="0" i="0" lang="en-US" sz="2999" u="none" cap="none" strike="noStrike">
                <a:solidFill>
                  <a:srgbClr val="000000"/>
                </a:solidFill>
                <a:latin typeface="Times New Roman"/>
                <a:ea typeface="Times New Roman"/>
                <a:cs typeface="Times New Roman"/>
                <a:sym typeface="Times New Roman"/>
              </a:rPr>
              <a:t> </a:t>
            </a:r>
            <a:endParaRPr/>
          </a:p>
        </p:txBody>
      </p:sp>
      <p:sp>
        <p:nvSpPr>
          <p:cNvPr id="161" name="Google Shape;161;p20"/>
          <p:cNvSpPr txBox="1"/>
          <p:nvPr/>
        </p:nvSpPr>
        <p:spPr>
          <a:xfrm>
            <a:off x="1497978" y="3178007"/>
            <a:ext cx="111204" cy="646002"/>
          </a:xfrm>
          <a:prstGeom prst="rect">
            <a:avLst/>
          </a:prstGeom>
          <a:noFill/>
          <a:ln>
            <a:noFill/>
          </a:ln>
        </p:spPr>
        <p:txBody>
          <a:bodyPr anchorCtr="0" anchor="t" bIns="0" lIns="0" spcFirstLastPara="1" rIns="0" wrap="square" tIns="0">
            <a:spAutoFit/>
          </a:bodyPr>
          <a:lstStyle/>
          <a:p>
            <a:pPr indent="0" lvl="0" marL="0" marR="0" rtl="0" algn="l">
              <a:lnSpc>
                <a:spcPct val="146098"/>
              </a:lnSpc>
              <a:spcBef>
                <a:spcPts val="0"/>
              </a:spcBef>
              <a:spcAft>
                <a:spcPts val="0"/>
              </a:spcAft>
              <a:buNone/>
            </a:pPr>
            <a:r>
              <a:rPr b="1" i="0" lang="en-US" sz="3499" u="none" cap="none" strike="noStrike">
                <a:solidFill>
                  <a:srgbClr val="000000"/>
                </a:solidFill>
                <a:latin typeface="Times"/>
                <a:ea typeface="Times"/>
                <a:cs typeface="Times"/>
                <a:sym typeface="Times"/>
              </a:rPr>
              <a:t> </a:t>
            </a:r>
            <a:endParaRPr/>
          </a:p>
        </p:txBody>
      </p:sp>
      <p:sp>
        <p:nvSpPr>
          <p:cNvPr id="162" name="Google Shape;162;p20"/>
          <p:cNvSpPr txBox="1"/>
          <p:nvPr/>
        </p:nvSpPr>
        <p:spPr>
          <a:xfrm>
            <a:off x="2907192" y="5999312"/>
            <a:ext cx="111204" cy="395385"/>
          </a:xfrm>
          <a:prstGeom prst="rect">
            <a:avLst/>
          </a:prstGeom>
          <a:noFill/>
          <a:ln>
            <a:noFill/>
          </a:ln>
        </p:spPr>
        <p:txBody>
          <a:bodyPr anchorCtr="0" anchor="t" bIns="0" lIns="0" spcFirstLastPara="1" rIns="0" wrap="square" tIns="0">
            <a:spAutoFit/>
          </a:bodyPr>
          <a:lstStyle/>
          <a:p>
            <a:pPr indent="0" lvl="0" marL="0" marR="0" rtl="0" algn="l">
              <a:lnSpc>
                <a:spcPct val="73906"/>
              </a:lnSpc>
              <a:spcBef>
                <a:spcPts val="0"/>
              </a:spcBef>
              <a:spcAft>
                <a:spcPts val="0"/>
              </a:spcAft>
              <a:buNone/>
            </a:pPr>
            <a:r>
              <a:rPr b="1" i="0" lang="en-US" sz="3499" u="none" cap="none" strike="noStrike">
                <a:solidFill>
                  <a:srgbClr val="000000"/>
                </a:solidFill>
                <a:latin typeface="Times"/>
                <a:ea typeface="Times"/>
                <a:cs typeface="Times"/>
                <a:sym typeface="Times"/>
              </a:rPr>
              <a:t> </a:t>
            </a:r>
            <a:endParaRPr/>
          </a:p>
        </p:txBody>
      </p:sp>
      <p:sp>
        <p:nvSpPr>
          <p:cNvPr id="163" name="Google Shape;163;p20"/>
          <p:cNvSpPr txBox="1"/>
          <p:nvPr/>
        </p:nvSpPr>
        <p:spPr>
          <a:xfrm>
            <a:off x="5946462" y="550826"/>
            <a:ext cx="7161252" cy="744665"/>
          </a:xfrm>
          <a:prstGeom prst="rect">
            <a:avLst/>
          </a:prstGeom>
          <a:noFill/>
          <a:ln>
            <a:noFill/>
          </a:ln>
        </p:spPr>
        <p:txBody>
          <a:bodyPr anchorCtr="0" anchor="t" bIns="0" lIns="0" spcFirstLastPara="1" rIns="0" wrap="square" tIns="0">
            <a:spAutoFit/>
          </a:bodyPr>
          <a:lstStyle/>
          <a:p>
            <a:pPr indent="0" lvl="0" marL="0" marR="0" rtl="0" algn="l">
              <a:lnSpc>
                <a:spcPct val="89491"/>
              </a:lnSpc>
              <a:spcBef>
                <a:spcPts val="0"/>
              </a:spcBef>
              <a:spcAft>
                <a:spcPts val="0"/>
              </a:spcAft>
              <a:buNone/>
            </a:pPr>
            <a:r>
              <a:rPr b="1" i="0" lang="en-US" sz="5700" u="none" cap="none" strike="noStrike">
                <a:solidFill>
                  <a:srgbClr val="000000"/>
                </a:solidFill>
                <a:latin typeface="Times"/>
                <a:ea typeface="Times"/>
                <a:cs typeface="Times"/>
                <a:sym typeface="Times"/>
              </a:rPr>
              <a:t>Coding and Simulation</a:t>
            </a:r>
            <a:endParaRPr/>
          </a:p>
        </p:txBody>
      </p:sp>
      <p:sp>
        <p:nvSpPr>
          <p:cNvPr id="164" name="Google Shape;164;p20"/>
          <p:cNvSpPr txBox="1"/>
          <p:nvPr/>
        </p:nvSpPr>
        <p:spPr>
          <a:xfrm>
            <a:off x="0" y="1638390"/>
            <a:ext cx="10006791" cy="738504"/>
          </a:xfrm>
          <a:prstGeom prst="rect">
            <a:avLst/>
          </a:prstGeom>
          <a:noFill/>
          <a:ln>
            <a:noFill/>
          </a:ln>
        </p:spPr>
        <p:txBody>
          <a:bodyPr anchorCtr="0" anchor="t" bIns="0" lIns="0" spcFirstLastPara="1" rIns="0" wrap="square" tIns="0">
            <a:spAutoFit/>
          </a:bodyPr>
          <a:lstStyle/>
          <a:p>
            <a:pPr indent="-464187" lvl="1" marL="928374" marR="0" rtl="0" algn="l">
              <a:lnSpc>
                <a:spcPct val="140000"/>
              </a:lnSpc>
              <a:spcBef>
                <a:spcPts val="0"/>
              </a:spcBef>
              <a:spcAft>
                <a:spcPts val="0"/>
              </a:spcAft>
              <a:buClr>
                <a:srgbClr val="000000"/>
              </a:buClr>
              <a:buSzPts val="4300"/>
              <a:buFont typeface="Arial"/>
              <a:buAutoNum type="arabicPeriod"/>
            </a:pPr>
            <a:r>
              <a:rPr b="1" i="0" lang="en-US" sz="4300" u="none" cap="none" strike="noStrike">
                <a:solidFill>
                  <a:srgbClr val="000000"/>
                </a:solidFill>
                <a:latin typeface="Arial"/>
                <a:ea typeface="Arial"/>
                <a:cs typeface="Arial"/>
                <a:sym typeface="Arial"/>
              </a:rPr>
              <a:t> Deterministic algorithms[NN,CW]</a:t>
            </a:r>
            <a:endParaRPr/>
          </a:p>
        </p:txBody>
      </p:sp>
      <p:sp>
        <p:nvSpPr>
          <p:cNvPr id="165" name="Google Shape;165;p20"/>
          <p:cNvSpPr txBox="1"/>
          <p:nvPr/>
        </p:nvSpPr>
        <p:spPr>
          <a:xfrm>
            <a:off x="9139238" y="4491990"/>
            <a:ext cx="9525" cy="1066800"/>
          </a:xfrm>
          <a:prstGeom prst="rect">
            <a:avLst/>
          </a:prstGeom>
          <a:noFill/>
          <a:ln>
            <a:noFill/>
          </a:ln>
        </p:spPr>
        <p:txBody>
          <a:bodyPr anchorCtr="0" anchor="t" bIns="0" lIns="0" spcFirstLastPara="1" rIns="0" wrap="square" tIns="0">
            <a:spAutoFit/>
          </a:bodyPr>
          <a:lstStyle/>
          <a:p>
            <a:pPr indent="0" lvl="0" marL="0" marR="0" rtl="0" algn="ctr">
              <a:lnSpc>
                <a:spcPct val="46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69" name="Shape 169"/>
        <p:cNvGrpSpPr/>
        <p:nvPr/>
      </p:nvGrpSpPr>
      <p:grpSpPr>
        <a:xfrm>
          <a:off x="0" y="0"/>
          <a:ext cx="0" cy="0"/>
          <a:chOff x="0" y="0"/>
          <a:chExt cx="0" cy="0"/>
        </a:xfrm>
      </p:grpSpPr>
      <p:sp>
        <p:nvSpPr>
          <p:cNvPr id="170" name="Google Shape;170;p21"/>
          <p:cNvSpPr/>
          <p:nvPr/>
        </p:nvSpPr>
        <p:spPr>
          <a:xfrm>
            <a:off x="1405934" y="2582042"/>
            <a:ext cx="7170817" cy="6295401"/>
          </a:xfrm>
          <a:custGeom>
            <a:rect b="b" l="l" r="r" t="t"/>
            <a:pathLst>
              <a:path extrusionOk="0" h="6295401" w="7170817">
                <a:moveTo>
                  <a:pt x="0" y="0"/>
                </a:moveTo>
                <a:lnTo>
                  <a:pt x="7170817" y="0"/>
                </a:lnTo>
                <a:lnTo>
                  <a:pt x="7170817" y="6295401"/>
                </a:lnTo>
                <a:lnTo>
                  <a:pt x="0" y="6295401"/>
                </a:lnTo>
                <a:lnTo>
                  <a:pt x="0" y="0"/>
                </a:lnTo>
                <a:close/>
              </a:path>
            </a:pathLst>
          </a:custGeom>
          <a:blipFill rotWithShape="1">
            <a:blip r:embed="rId3">
              <a:alphaModFix/>
            </a:blip>
            <a:stretch>
              <a:fillRect b="-624" l="0" r="0" t="-624"/>
            </a:stretch>
          </a:blipFill>
          <a:ln>
            <a:noFill/>
          </a:ln>
        </p:spPr>
      </p:sp>
      <p:sp>
        <p:nvSpPr>
          <p:cNvPr id="171" name="Google Shape;171;p21"/>
          <p:cNvSpPr/>
          <p:nvPr/>
        </p:nvSpPr>
        <p:spPr>
          <a:xfrm>
            <a:off x="11612291" y="2376895"/>
            <a:ext cx="4510128" cy="6880994"/>
          </a:xfrm>
          <a:custGeom>
            <a:rect b="b" l="l" r="r" t="t"/>
            <a:pathLst>
              <a:path extrusionOk="0" h="6880994" w="4510128">
                <a:moveTo>
                  <a:pt x="0" y="0"/>
                </a:moveTo>
                <a:lnTo>
                  <a:pt x="4510128" y="0"/>
                </a:lnTo>
                <a:lnTo>
                  <a:pt x="4510128" y="6880994"/>
                </a:lnTo>
                <a:lnTo>
                  <a:pt x="0" y="6880994"/>
                </a:lnTo>
                <a:lnTo>
                  <a:pt x="0" y="0"/>
                </a:lnTo>
                <a:close/>
              </a:path>
            </a:pathLst>
          </a:custGeom>
          <a:blipFill rotWithShape="1">
            <a:blip r:embed="rId4">
              <a:alphaModFix/>
            </a:blip>
            <a:stretch>
              <a:fillRect b="-1030" l="0" r="0" t="-4012"/>
            </a:stretch>
          </a:blipFill>
          <a:ln>
            <a:noFill/>
          </a:ln>
        </p:spPr>
      </p:sp>
      <p:sp>
        <p:nvSpPr>
          <p:cNvPr id="172" name="Google Shape;172;p21"/>
          <p:cNvSpPr txBox="1"/>
          <p:nvPr/>
        </p:nvSpPr>
        <p:spPr>
          <a:xfrm>
            <a:off x="389825" y="1493140"/>
            <a:ext cx="10006800" cy="661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4300"/>
              <a:t>2. </a:t>
            </a:r>
            <a:r>
              <a:rPr b="1" i="0" lang="en-US" sz="4300" u="none" cap="none" strike="noStrike">
                <a:solidFill>
                  <a:srgbClr val="000000"/>
                </a:solidFill>
                <a:latin typeface="Arial"/>
                <a:ea typeface="Arial"/>
                <a:cs typeface="Arial"/>
                <a:sym typeface="Arial"/>
              </a:rPr>
              <a:t> Randomised algorithm [EDA]</a:t>
            </a:r>
            <a:endParaRPr/>
          </a:p>
        </p:txBody>
      </p:sp>
      <p:sp>
        <p:nvSpPr>
          <p:cNvPr id="173" name="Google Shape;173;p21"/>
          <p:cNvSpPr/>
          <p:nvPr/>
        </p:nvSpPr>
        <p:spPr>
          <a:xfrm>
            <a:off x="0" y="10134600"/>
            <a:ext cx="18288000" cy="152400"/>
          </a:xfrm>
          <a:custGeom>
            <a:rect b="b" l="l" r="r" t="t"/>
            <a:pathLst>
              <a:path extrusionOk="0" h="203200" w="24384000">
                <a:moveTo>
                  <a:pt x="0" y="0"/>
                </a:moveTo>
                <a:lnTo>
                  <a:pt x="24384000" y="0"/>
                </a:lnTo>
                <a:lnTo>
                  <a:pt x="24384000" y="203200"/>
                </a:lnTo>
                <a:lnTo>
                  <a:pt x="0" y="203200"/>
                </a:lnTo>
                <a:lnTo>
                  <a:pt x="0" y="0"/>
                </a:lnTo>
                <a:close/>
              </a:path>
            </a:pathLst>
          </a:custGeom>
          <a:blipFill rotWithShape="1">
            <a:blip r:embed="rId5">
              <a:alphaModFix/>
            </a:blip>
            <a:stretch>
              <a:fillRect b="0" l="0" r="0" t="0"/>
            </a:stretch>
          </a:blipFill>
          <a:ln>
            <a:noFill/>
          </a:ln>
        </p:spPr>
      </p:sp>
      <p:sp>
        <p:nvSpPr>
          <p:cNvPr id="174" name="Google Shape;174;p21"/>
          <p:cNvSpPr/>
          <p:nvPr/>
        </p:nvSpPr>
        <p:spPr>
          <a:xfrm>
            <a:off x="538220" y="9058418"/>
            <a:ext cx="2048732" cy="898494"/>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6">
              <a:alphaModFix/>
            </a:blip>
            <a:stretch>
              <a:fillRect b="-164802" l="-72592" r="-72212" t="-164493"/>
            </a:stretch>
          </a:blipFill>
          <a:ln>
            <a:noFill/>
          </a:ln>
        </p:spPr>
      </p:sp>
      <p:sp>
        <p:nvSpPr>
          <p:cNvPr id="175" name="Google Shape;175;p21"/>
          <p:cNvSpPr txBox="1"/>
          <p:nvPr/>
        </p:nvSpPr>
        <p:spPr>
          <a:xfrm>
            <a:off x="5946462" y="550826"/>
            <a:ext cx="7161252" cy="744665"/>
          </a:xfrm>
          <a:prstGeom prst="rect">
            <a:avLst/>
          </a:prstGeom>
          <a:noFill/>
          <a:ln>
            <a:noFill/>
          </a:ln>
        </p:spPr>
        <p:txBody>
          <a:bodyPr anchorCtr="0" anchor="t" bIns="0" lIns="0" spcFirstLastPara="1" rIns="0" wrap="square" tIns="0">
            <a:spAutoFit/>
          </a:bodyPr>
          <a:lstStyle/>
          <a:p>
            <a:pPr indent="0" lvl="0" marL="0" marR="0" rtl="0" algn="l">
              <a:lnSpc>
                <a:spcPct val="89491"/>
              </a:lnSpc>
              <a:spcBef>
                <a:spcPts val="0"/>
              </a:spcBef>
              <a:spcAft>
                <a:spcPts val="0"/>
              </a:spcAft>
              <a:buNone/>
            </a:pPr>
            <a:r>
              <a:rPr b="1" i="0" lang="en-US" sz="5700" u="none" cap="none" strike="noStrike">
                <a:solidFill>
                  <a:srgbClr val="000000"/>
                </a:solidFill>
                <a:latin typeface="Times"/>
                <a:ea typeface="Times"/>
                <a:cs typeface="Times"/>
                <a:sym typeface="Times"/>
              </a:rPr>
              <a:t>Coding and Simulation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79" name="Shape 179"/>
        <p:cNvGrpSpPr/>
        <p:nvPr/>
      </p:nvGrpSpPr>
      <p:grpSpPr>
        <a:xfrm>
          <a:off x="0" y="0"/>
          <a:ext cx="0" cy="0"/>
          <a:chOff x="0" y="0"/>
          <a:chExt cx="0" cy="0"/>
        </a:xfrm>
      </p:grpSpPr>
      <p:sp>
        <p:nvSpPr>
          <p:cNvPr id="180" name="Google Shape;180;p22"/>
          <p:cNvSpPr txBox="1"/>
          <p:nvPr/>
        </p:nvSpPr>
        <p:spPr>
          <a:xfrm>
            <a:off x="1028700" y="693476"/>
            <a:ext cx="16512237" cy="8028268"/>
          </a:xfrm>
          <a:prstGeom prst="rect">
            <a:avLst/>
          </a:prstGeom>
          <a:noFill/>
          <a:ln>
            <a:noFill/>
          </a:ln>
        </p:spPr>
        <p:txBody>
          <a:bodyPr anchorCtr="0" anchor="t" bIns="0" lIns="0" spcFirstLastPara="1" rIns="0" wrap="square" tIns="0">
            <a:spAutoFit/>
          </a:bodyPr>
          <a:lstStyle/>
          <a:p>
            <a:pPr indent="-328179" lvl="1" marL="656358" marR="0" rtl="0" algn="l">
              <a:lnSpc>
                <a:spcPct val="140000"/>
              </a:lnSpc>
              <a:spcBef>
                <a:spcPts val="0"/>
              </a:spcBef>
              <a:spcAft>
                <a:spcPts val="0"/>
              </a:spcAft>
              <a:buClr>
                <a:srgbClr val="000000"/>
              </a:buClr>
              <a:buSzPts val="3040"/>
              <a:buFont typeface="Arial"/>
              <a:buChar char="•"/>
            </a:pPr>
            <a:r>
              <a:rPr b="1" i="0" lang="en-US" sz="3040" u="none" cap="none" strike="noStrike">
                <a:solidFill>
                  <a:srgbClr val="000000"/>
                </a:solidFill>
                <a:latin typeface="Arial"/>
                <a:ea typeface="Arial"/>
                <a:cs typeface="Arial"/>
                <a:sym typeface="Arial"/>
              </a:rPr>
              <a:t>Deterministic routing (NN, Clarke-Wright)</a:t>
            </a:r>
            <a:r>
              <a:rPr b="0" i="0" lang="en-US" sz="3040" u="none" cap="none" strike="noStrike">
                <a:solidFill>
                  <a:srgbClr val="000000"/>
                </a:solidFill>
                <a:latin typeface="Arial"/>
                <a:ea typeface="Arial"/>
                <a:cs typeface="Arial"/>
                <a:sym typeface="Arial"/>
              </a:rPr>
              <a:t> </a:t>
            </a:r>
            <a:r>
              <a:rPr b="0" i="0" lang="en-US" sz="3040" u="none" cap="none" strike="noStrike">
                <a:solidFill>
                  <a:srgbClr val="7F1114"/>
                </a:solidFill>
                <a:latin typeface="Arial"/>
                <a:ea typeface="Arial"/>
                <a:cs typeface="Arial"/>
                <a:sym typeface="Arial"/>
              </a:rPr>
              <a:t>--→</a:t>
            </a:r>
            <a:r>
              <a:rPr b="0" i="0" lang="en-US" sz="3040" u="none" cap="none" strike="noStrike">
                <a:solidFill>
                  <a:srgbClr val="000000"/>
                </a:solidFill>
                <a:latin typeface="Arial"/>
                <a:ea typeface="Arial"/>
                <a:cs typeface="Arial"/>
                <a:sym typeface="Arial"/>
              </a:rPr>
              <a:t> fixed routes, no uncertainty handling</a:t>
            </a:r>
            <a:endParaRPr/>
          </a:p>
          <a:p>
            <a:pPr indent="0" lvl="0" marL="0" marR="0" rtl="0" algn="l">
              <a:lnSpc>
                <a:spcPct val="140000"/>
              </a:lnSpc>
              <a:spcBef>
                <a:spcPts val="0"/>
              </a:spcBef>
              <a:spcAft>
                <a:spcPts val="0"/>
              </a:spcAft>
              <a:buNone/>
            </a:pPr>
            <a:r>
              <a:t/>
            </a:r>
            <a:endParaRPr b="0" i="0" sz="3040" u="none" cap="none" strike="noStrike">
              <a:solidFill>
                <a:srgbClr val="000000"/>
              </a:solidFill>
              <a:latin typeface="Arial"/>
              <a:ea typeface="Arial"/>
              <a:cs typeface="Arial"/>
              <a:sym typeface="Arial"/>
            </a:endParaRPr>
          </a:p>
          <a:p>
            <a:pPr indent="-328179" lvl="1" marL="656358" marR="0" rtl="0" algn="l">
              <a:lnSpc>
                <a:spcPct val="140000"/>
              </a:lnSpc>
              <a:spcBef>
                <a:spcPts val="0"/>
              </a:spcBef>
              <a:spcAft>
                <a:spcPts val="0"/>
              </a:spcAft>
              <a:buClr>
                <a:srgbClr val="000000"/>
              </a:buClr>
              <a:buSzPts val="3040"/>
              <a:buFont typeface="Arial"/>
              <a:buChar char="•"/>
            </a:pPr>
            <a:r>
              <a:rPr b="1" i="0" lang="en-US" sz="3040" u="none" cap="none" strike="noStrike">
                <a:solidFill>
                  <a:srgbClr val="000000"/>
                </a:solidFill>
                <a:latin typeface="Arial"/>
                <a:ea typeface="Arial"/>
                <a:cs typeface="Arial"/>
                <a:sym typeface="Arial"/>
              </a:rPr>
              <a:t>Stochastic modeling</a:t>
            </a:r>
            <a:r>
              <a:rPr b="0" i="0" lang="en-US" sz="3040" u="none" cap="none" strike="noStrike">
                <a:solidFill>
                  <a:srgbClr val="000000"/>
                </a:solidFill>
                <a:latin typeface="Arial"/>
                <a:ea typeface="Arial"/>
                <a:cs typeface="Arial"/>
                <a:sym typeface="Arial"/>
              </a:rPr>
              <a:t> --</a:t>
            </a:r>
            <a:r>
              <a:rPr b="0" i="0" lang="en-US" sz="3040" u="none" cap="none" strike="noStrike">
                <a:solidFill>
                  <a:srgbClr val="7F1114"/>
                </a:solidFill>
                <a:latin typeface="Arial"/>
                <a:ea typeface="Arial"/>
                <a:cs typeface="Arial"/>
                <a:sym typeface="Arial"/>
              </a:rPr>
              <a:t>→ </a:t>
            </a:r>
            <a:r>
              <a:rPr b="0" i="0" lang="en-US" sz="3040" u="none" cap="none" strike="noStrike">
                <a:solidFill>
                  <a:srgbClr val="000000"/>
                </a:solidFill>
                <a:latin typeface="Arial"/>
                <a:ea typeface="Arial"/>
                <a:cs typeface="Arial"/>
                <a:sym typeface="Arial"/>
              </a:rPr>
              <a:t>Poisson demand, Lognormal speed, realistic behavior</a:t>
            </a:r>
            <a:endParaRPr/>
          </a:p>
          <a:p>
            <a:pPr indent="0" lvl="0" marL="0" marR="0" rtl="0" algn="l">
              <a:lnSpc>
                <a:spcPct val="140000"/>
              </a:lnSpc>
              <a:spcBef>
                <a:spcPts val="0"/>
              </a:spcBef>
              <a:spcAft>
                <a:spcPts val="0"/>
              </a:spcAft>
              <a:buNone/>
            </a:pPr>
            <a:r>
              <a:t/>
            </a:r>
            <a:endParaRPr b="0" i="0" sz="3040" u="none" cap="none" strike="noStrike">
              <a:solidFill>
                <a:srgbClr val="000000"/>
              </a:solidFill>
              <a:latin typeface="Arial"/>
              <a:ea typeface="Arial"/>
              <a:cs typeface="Arial"/>
              <a:sym typeface="Arial"/>
            </a:endParaRPr>
          </a:p>
          <a:p>
            <a:pPr indent="-328179" lvl="1" marL="656358" marR="0" rtl="0" algn="l">
              <a:lnSpc>
                <a:spcPct val="140000"/>
              </a:lnSpc>
              <a:spcBef>
                <a:spcPts val="0"/>
              </a:spcBef>
              <a:spcAft>
                <a:spcPts val="0"/>
              </a:spcAft>
              <a:buClr>
                <a:srgbClr val="000000"/>
              </a:buClr>
              <a:buSzPts val="3040"/>
              <a:buFont typeface="Arial"/>
              <a:buChar char="•"/>
            </a:pPr>
            <a:r>
              <a:rPr b="1" i="0" lang="en-US" sz="3040" u="none" cap="none" strike="noStrike">
                <a:solidFill>
                  <a:srgbClr val="000000"/>
                </a:solidFill>
                <a:latin typeface="Arial"/>
                <a:ea typeface="Arial"/>
                <a:cs typeface="Arial"/>
                <a:sym typeface="Arial"/>
              </a:rPr>
              <a:t>Objective function</a:t>
            </a:r>
            <a:r>
              <a:rPr b="0" i="0" lang="en-US" sz="3040" u="none" cap="none" strike="noStrike">
                <a:solidFill>
                  <a:srgbClr val="7F1114"/>
                </a:solidFill>
                <a:latin typeface="Arial"/>
                <a:ea typeface="Arial"/>
                <a:cs typeface="Arial"/>
                <a:sym typeface="Arial"/>
              </a:rPr>
              <a:t> --→</a:t>
            </a:r>
            <a:r>
              <a:rPr b="0" i="0" lang="en-US" sz="3040" u="none" cap="none" strike="noStrike">
                <a:solidFill>
                  <a:srgbClr val="000000"/>
                </a:solidFill>
                <a:latin typeface="Arial"/>
                <a:ea typeface="Arial"/>
                <a:cs typeface="Arial"/>
                <a:sym typeface="Arial"/>
              </a:rPr>
              <a:t> Expected travel time</a:t>
            </a:r>
            <a:r>
              <a:rPr b="1" i="0" lang="en-US" sz="3040" u="none" cap="none" strike="noStrike">
                <a:solidFill>
                  <a:srgbClr val="000000"/>
                </a:solidFill>
                <a:latin typeface="Arial"/>
                <a:ea typeface="Arial"/>
                <a:cs typeface="Arial"/>
                <a:sym typeface="Arial"/>
              </a:rPr>
              <a:t> E[T] &gt; distance-only</a:t>
            </a:r>
            <a:endParaRPr/>
          </a:p>
          <a:p>
            <a:pPr indent="0" lvl="0" marL="0" marR="0" rtl="0" algn="l">
              <a:lnSpc>
                <a:spcPct val="140000"/>
              </a:lnSpc>
              <a:spcBef>
                <a:spcPts val="0"/>
              </a:spcBef>
              <a:spcAft>
                <a:spcPts val="0"/>
              </a:spcAft>
              <a:buNone/>
            </a:pPr>
            <a:r>
              <a:t/>
            </a:r>
            <a:endParaRPr b="1" i="0" sz="3040" u="none" cap="none" strike="noStrike">
              <a:solidFill>
                <a:srgbClr val="000000"/>
              </a:solidFill>
              <a:latin typeface="Arial"/>
              <a:ea typeface="Arial"/>
              <a:cs typeface="Arial"/>
              <a:sym typeface="Arial"/>
            </a:endParaRPr>
          </a:p>
          <a:p>
            <a:pPr indent="-328179" lvl="1" marL="656358" marR="0" rtl="0" algn="l">
              <a:lnSpc>
                <a:spcPct val="140000"/>
              </a:lnSpc>
              <a:spcBef>
                <a:spcPts val="0"/>
              </a:spcBef>
              <a:spcAft>
                <a:spcPts val="0"/>
              </a:spcAft>
              <a:buClr>
                <a:srgbClr val="000000"/>
              </a:buClr>
              <a:buSzPts val="3040"/>
              <a:buFont typeface="Arial"/>
              <a:buChar char="•"/>
            </a:pPr>
            <a:r>
              <a:rPr b="1" i="0" lang="en-US" sz="3040" u="none" cap="none" strike="noStrike">
                <a:solidFill>
                  <a:srgbClr val="000000"/>
                </a:solidFill>
                <a:latin typeface="Arial"/>
                <a:ea typeface="Arial"/>
                <a:cs typeface="Arial"/>
                <a:sym typeface="Arial"/>
              </a:rPr>
              <a:t>EDA (Estimation of Distribution Algorithm</a:t>
            </a:r>
            <a:r>
              <a:rPr b="0" i="0" lang="en-US" sz="3040" u="none" cap="none" strike="noStrike">
                <a:solidFill>
                  <a:srgbClr val="000000"/>
                </a:solidFill>
                <a:latin typeface="Arial"/>
                <a:ea typeface="Arial"/>
                <a:cs typeface="Arial"/>
                <a:sym typeface="Arial"/>
              </a:rPr>
              <a:t>) --</a:t>
            </a:r>
            <a:r>
              <a:rPr b="0" i="0" lang="en-US" sz="3040" u="none" cap="none" strike="noStrike">
                <a:solidFill>
                  <a:srgbClr val="7F1114"/>
                </a:solidFill>
                <a:latin typeface="Arial"/>
                <a:ea typeface="Arial"/>
                <a:cs typeface="Arial"/>
                <a:sym typeface="Arial"/>
              </a:rPr>
              <a:t>→</a:t>
            </a:r>
            <a:r>
              <a:rPr b="0" i="0" lang="en-US" sz="3040" u="none" cap="none" strike="noStrike">
                <a:solidFill>
                  <a:srgbClr val="000000"/>
                </a:solidFill>
                <a:latin typeface="Arial"/>
                <a:ea typeface="Arial"/>
                <a:cs typeface="Arial"/>
                <a:sym typeface="Arial"/>
              </a:rPr>
              <a:t> learns patterns, iterative improvement</a:t>
            </a:r>
            <a:endParaRPr/>
          </a:p>
          <a:p>
            <a:pPr indent="0" lvl="0" marL="0" marR="0" rtl="0" algn="l">
              <a:lnSpc>
                <a:spcPct val="140000"/>
              </a:lnSpc>
              <a:spcBef>
                <a:spcPts val="0"/>
              </a:spcBef>
              <a:spcAft>
                <a:spcPts val="0"/>
              </a:spcAft>
              <a:buNone/>
            </a:pPr>
            <a:r>
              <a:t/>
            </a:r>
            <a:endParaRPr b="0" i="0" sz="3040" u="none" cap="none" strike="noStrike">
              <a:solidFill>
                <a:srgbClr val="000000"/>
              </a:solidFill>
              <a:latin typeface="Arial"/>
              <a:ea typeface="Arial"/>
              <a:cs typeface="Arial"/>
              <a:sym typeface="Arial"/>
            </a:endParaRPr>
          </a:p>
          <a:p>
            <a:pPr indent="-328179" lvl="1" marL="656358" marR="0" rtl="0" algn="l">
              <a:lnSpc>
                <a:spcPct val="140000"/>
              </a:lnSpc>
              <a:spcBef>
                <a:spcPts val="0"/>
              </a:spcBef>
              <a:spcAft>
                <a:spcPts val="0"/>
              </a:spcAft>
              <a:buClr>
                <a:srgbClr val="000000"/>
              </a:buClr>
              <a:buSzPts val="3040"/>
              <a:buFont typeface="Arial"/>
              <a:buChar char="•"/>
            </a:pPr>
            <a:r>
              <a:rPr b="1" i="0" lang="en-US" sz="3040" u="none" cap="none" strike="noStrike">
                <a:solidFill>
                  <a:srgbClr val="000000"/>
                </a:solidFill>
                <a:latin typeface="Arial"/>
                <a:ea typeface="Arial"/>
                <a:cs typeface="Arial"/>
                <a:sym typeface="Arial"/>
              </a:rPr>
              <a:t>Monte Carlo simulation</a:t>
            </a:r>
            <a:r>
              <a:rPr b="0" i="0" lang="en-US" sz="3040" u="none" cap="none" strike="noStrike">
                <a:solidFill>
                  <a:srgbClr val="7F1114"/>
                </a:solidFill>
                <a:latin typeface="Arial"/>
                <a:ea typeface="Arial"/>
                <a:cs typeface="Arial"/>
                <a:sym typeface="Arial"/>
              </a:rPr>
              <a:t> --→</a:t>
            </a:r>
            <a:r>
              <a:rPr b="0" i="0" lang="en-US" sz="3040" u="none" cap="none" strike="noStrike">
                <a:solidFill>
                  <a:srgbClr val="000000"/>
                </a:solidFill>
                <a:latin typeface="Arial"/>
                <a:ea typeface="Arial"/>
                <a:cs typeface="Arial"/>
                <a:sym typeface="Arial"/>
              </a:rPr>
              <a:t> validation via Law of Large Numbers</a:t>
            </a:r>
            <a:endParaRPr/>
          </a:p>
          <a:p>
            <a:pPr indent="0" lvl="0" marL="0" marR="0" rtl="0" algn="l">
              <a:lnSpc>
                <a:spcPct val="140000"/>
              </a:lnSpc>
              <a:spcBef>
                <a:spcPts val="0"/>
              </a:spcBef>
              <a:spcAft>
                <a:spcPts val="0"/>
              </a:spcAft>
              <a:buNone/>
            </a:pPr>
            <a:r>
              <a:t/>
            </a:r>
            <a:endParaRPr b="0" i="0" sz="3040" u="none" cap="none" strike="noStrike">
              <a:solidFill>
                <a:srgbClr val="000000"/>
              </a:solidFill>
              <a:latin typeface="Arial"/>
              <a:ea typeface="Arial"/>
              <a:cs typeface="Arial"/>
              <a:sym typeface="Arial"/>
            </a:endParaRPr>
          </a:p>
          <a:p>
            <a:pPr indent="-328179" lvl="1" marL="656358" marR="0" rtl="0" algn="l">
              <a:lnSpc>
                <a:spcPct val="140000"/>
              </a:lnSpc>
              <a:spcBef>
                <a:spcPts val="0"/>
              </a:spcBef>
              <a:spcAft>
                <a:spcPts val="0"/>
              </a:spcAft>
              <a:buClr>
                <a:srgbClr val="000000"/>
              </a:buClr>
              <a:buSzPts val="3040"/>
              <a:buFont typeface="Arial"/>
              <a:buChar char="•"/>
            </a:pPr>
            <a:r>
              <a:rPr b="1" i="0" lang="en-US" sz="3040" u="none" cap="none" strike="noStrike">
                <a:solidFill>
                  <a:srgbClr val="000000"/>
                </a:solidFill>
                <a:latin typeface="Arial"/>
                <a:ea typeface="Arial"/>
                <a:cs typeface="Arial"/>
                <a:sym typeface="Arial"/>
              </a:rPr>
              <a:t>Performance</a:t>
            </a:r>
            <a:r>
              <a:rPr b="0" i="0" lang="en-US" sz="3040" u="none" cap="none" strike="noStrike">
                <a:solidFill>
                  <a:srgbClr val="000000"/>
                </a:solidFill>
                <a:latin typeface="Arial"/>
                <a:ea typeface="Arial"/>
                <a:cs typeface="Arial"/>
                <a:sym typeface="Arial"/>
              </a:rPr>
              <a:t> --</a:t>
            </a:r>
            <a:r>
              <a:rPr b="0" i="0" lang="en-US" sz="3040" u="none" cap="none" strike="noStrike">
                <a:solidFill>
                  <a:srgbClr val="7F1114"/>
                </a:solidFill>
                <a:latin typeface="Arial"/>
                <a:ea typeface="Arial"/>
                <a:cs typeface="Arial"/>
                <a:sym typeface="Arial"/>
              </a:rPr>
              <a:t>→</a:t>
            </a:r>
            <a:r>
              <a:rPr b="0" i="0" lang="en-US" sz="3040" u="none" cap="none" strike="noStrike">
                <a:solidFill>
                  <a:srgbClr val="000000"/>
                </a:solidFill>
                <a:latin typeface="Arial"/>
                <a:ea typeface="Arial"/>
                <a:cs typeface="Arial"/>
                <a:sym typeface="Arial"/>
              </a:rPr>
              <a:t> </a:t>
            </a:r>
            <a:r>
              <a:rPr b="1" i="0" lang="en-US" sz="3040" u="none" cap="none" strike="noStrike">
                <a:solidFill>
                  <a:srgbClr val="000000"/>
                </a:solidFill>
                <a:latin typeface="Arial"/>
                <a:ea typeface="Arial"/>
                <a:cs typeface="Arial"/>
                <a:sym typeface="Arial"/>
              </a:rPr>
              <a:t>EDA &gt; deterministic in large/complex cases</a:t>
            </a:r>
            <a:endParaRPr/>
          </a:p>
          <a:p>
            <a:pPr indent="0" lvl="0" marL="0" marR="0" rtl="0" algn="l">
              <a:lnSpc>
                <a:spcPct val="140000"/>
              </a:lnSpc>
              <a:spcBef>
                <a:spcPts val="0"/>
              </a:spcBef>
              <a:spcAft>
                <a:spcPts val="0"/>
              </a:spcAft>
              <a:buNone/>
            </a:pPr>
            <a:r>
              <a:t/>
            </a:r>
            <a:endParaRPr b="1" i="0" sz="3040" u="none" cap="none" strike="noStrike">
              <a:solidFill>
                <a:srgbClr val="000000"/>
              </a:solidFill>
              <a:latin typeface="Arial"/>
              <a:ea typeface="Arial"/>
              <a:cs typeface="Arial"/>
              <a:sym typeface="Arial"/>
            </a:endParaRPr>
          </a:p>
          <a:p>
            <a:pPr indent="-328179" lvl="1" marL="656358" marR="0" rtl="0" algn="l">
              <a:lnSpc>
                <a:spcPct val="140000"/>
              </a:lnSpc>
              <a:spcBef>
                <a:spcPts val="0"/>
              </a:spcBef>
              <a:spcAft>
                <a:spcPts val="0"/>
              </a:spcAft>
              <a:buClr>
                <a:srgbClr val="000000"/>
              </a:buClr>
              <a:buSzPts val="3040"/>
              <a:buFont typeface="Arial"/>
              <a:buChar char="•"/>
            </a:pPr>
            <a:r>
              <a:rPr b="1" i="0" lang="en-US" sz="3040" u="none" cap="none" strike="noStrike">
                <a:solidFill>
                  <a:srgbClr val="000000"/>
                </a:solidFill>
                <a:latin typeface="Arial"/>
                <a:ea typeface="Arial"/>
                <a:cs typeface="Arial"/>
                <a:sym typeface="Arial"/>
              </a:rPr>
              <a:t>Trade-off</a:t>
            </a:r>
            <a:r>
              <a:rPr b="0" i="0" lang="en-US" sz="3040" u="none" cap="none" strike="noStrike">
                <a:solidFill>
                  <a:srgbClr val="000000"/>
                </a:solidFill>
                <a:latin typeface="Arial"/>
                <a:ea typeface="Arial"/>
                <a:cs typeface="Arial"/>
                <a:sym typeface="Arial"/>
              </a:rPr>
              <a:t> </a:t>
            </a:r>
            <a:r>
              <a:rPr b="0" i="0" lang="en-US" sz="3040" u="none" cap="none" strike="noStrike">
                <a:solidFill>
                  <a:srgbClr val="7F1114"/>
                </a:solidFill>
                <a:latin typeface="Arial"/>
                <a:ea typeface="Arial"/>
                <a:cs typeface="Arial"/>
                <a:sym typeface="Arial"/>
              </a:rPr>
              <a:t>--→</a:t>
            </a:r>
            <a:r>
              <a:rPr b="0" i="0" lang="en-US" sz="3040" u="none" cap="none" strike="noStrike">
                <a:solidFill>
                  <a:srgbClr val="000000"/>
                </a:solidFill>
                <a:latin typeface="Arial"/>
                <a:ea typeface="Arial"/>
                <a:cs typeface="Arial"/>
                <a:sym typeface="Arial"/>
              </a:rPr>
              <a:t> computation cost vs routing optimality</a:t>
            </a:r>
            <a:endParaRPr/>
          </a:p>
          <a:p>
            <a:pPr indent="0" lvl="0" marL="0" marR="0" rtl="0" algn="l">
              <a:lnSpc>
                <a:spcPct val="140000"/>
              </a:lnSpc>
              <a:spcBef>
                <a:spcPts val="0"/>
              </a:spcBef>
              <a:spcAft>
                <a:spcPts val="0"/>
              </a:spcAft>
              <a:buNone/>
            </a:pPr>
            <a:r>
              <a:t/>
            </a:r>
            <a:endParaRPr b="0" i="0" sz="3040" u="none" cap="none" strike="noStrike">
              <a:solidFill>
                <a:srgbClr val="000000"/>
              </a:solidFill>
              <a:latin typeface="Arial"/>
              <a:ea typeface="Arial"/>
              <a:cs typeface="Arial"/>
              <a:sym typeface="Arial"/>
            </a:endParaRPr>
          </a:p>
        </p:txBody>
      </p:sp>
      <p:sp>
        <p:nvSpPr>
          <p:cNvPr id="181" name="Google Shape;181;p22"/>
          <p:cNvSpPr/>
          <p:nvPr/>
        </p:nvSpPr>
        <p:spPr>
          <a:xfrm>
            <a:off x="0" y="10134600"/>
            <a:ext cx="18288000" cy="152400"/>
          </a:xfrm>
          <a:custGeom>
            <a:rect b="b" l="l" r="r" t="t"/>
            <a:pathLst>
              <a:path extrusionOk="0" h="203200" w="24384000">
                <a:moveTo>
                  <a:pt x="0" y="0"/>
                </a:moveTo>
                <a:lnTo>
                  <a:pt x="24384000" y="0"/>
                </a:lnTo>
                <a:lnTo>
                  <a:pt x="24384000" y="203200"/>
                </a:lnTo>
                <a:lnTo>
                  <a:pt x="0" y="203200"/>
                </a:lnTo>
                <a:lnTo>
                  <a:pt x="0" y="0"/>
                </a:lnTo>
                <a:close/>
              </a:path>
            </a:pathLst>
          </a:custGeom>
          <a:blipFill rotWithShape="1">
            <a:blip r:embed="rId3">
              <a:alphaModFix/>
            </a:blip>
            <a:stretch>
              <a:fillRect b="0" l="0" r="0" t="0"/>
            </a:stretch>
          </a:blipFill>
          <a:ln>
            <a:noFill/>
          </a:ln>
        </p:spPr>
      </p:sp>
      <p:sp>
        <p:nvSpPr>
          <p:cNvPr id="182" name="Google Shape;182;p22"/>
          <p:cNvSpPr/>
          <p:nvPr/>
        </p:nvSpPr>
        <p:spPr>
          <a:xfrm>
            <a:off x="538220" y="9058418"/>
            <a:ext cx="2048732" cy="898494"/>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4">
              <a:alphaModFix/>
            </a:blip>
            <a:stretch>
              <a:fillRect b="-164802" l="-72592" r="-72212" t="-164493"/>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86" name="Shape 186"/>
        <p:cNvGrpSpPr/>
        <p:nvPr/>
      </p:nvGrpSpPr>
      <p:grpSpPr>
        <a:xfrm>
          <a:off x="0" y="0"/>
          <a:ext cx="0" cy="0"/>
          <a:chOff x="0" y="0"/>
          <a:chExt cx="0" cy="0"/>
        </a:xfrm>
      </p:grpSpPr>
      <p:sp>
        <p:nvSpPr>
          <p:cNvPr id="187" name="Google Shape;187;p23"/>
          <p:cNvSpPr/>
          <p:nvPr/>
        </p:nvSpPr>
        <p:spPr>
          <a:xfrm>
            <a:off x="0" y="10134600"/>
            <a:ext cx="18288000" cy="152400"/>
          </a:xfrm>
          <a:custGeom>
            <a:rect b="b" l="l" r="r" t="t"/>
            <a:pathLst>
              <a:path extrusionOk="0" h="203200" w="24384000">
                <a:moveTo>
                  <a:pt x="0" y="0"/>
                </a:moveTo>
                <a:lnTo>
                  <a:pt x="24384000" y="0"/>
                </a:lnTo>
                <a:lnTo>
                  <a:pt x="24384000" y="203200"/>
                </a:lnTo>
                <a:lnTo>
                  <a:pt x="0" y="203200"/>
                </a:lnTo>
                <a:lnTo>
                  <a:pt x="0" y="0"/>
                </a:lnTo>
                <a:close/>
              </a:path>
            </a:pathLst>
          </a:custGeom>
          <a:blipFill rotWithShape="1">
            <a:blip r:embed="rId3">
              <a:alphaModFix/>
            </a:blip>
            <a:stretch>
              <a:fillRect b="0" l="0" r="0" t="0"/>
            </a:stretch>
          </a:blipFill>
          <a:ln>
            <a:noFill/>
          </a:ln>
        </p:spPr>
      </p:sp>
      <p:sp>
        <p:nvSpPr>
          <p:cNvPr id="188" name="Google Shape;188;p23"/>
          <p:cNvSpPr/>
          <p:nvPr/>
        </p:nvSpPr>
        <p:spPr>
          <a:xfrm>
            <a:off x="538220" y="9058418"/>
            <a:ext cx="2048732" cy="898494"/>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4">
              <a:alphaModFix/>
            </a:blip>
            <a:stretch>
              <a:fillRect b="-164802" l="-72592" r="-72212" t="-164493"/>
            </a:stretch>
          </a:blipFill>
          <a:ln>
            <a:noFill/>
          </a:ln>
        </p:spPr>
      </p:sp>
      <p:sp>
        <p:nvSpPr>
          <p:cNvPr id="189" name="Google Shape;189;p23"/>
          <p:cNvSpPr txBox="1"/>
          <p:nvPr/>
        </p:nvSpPr>
        <p:spPr>
          <a:xfrm>
            <a:off x="2048475" y="1777194"/>
            <a:ext cx="95250" cy="838324"/>
          </a:xfrm>
          <a:prstGeom prst="rect">
            <a:avLst/>
          </a:prstGeom>
          <a:noFill/>
          <a:ln>
            <a:noFill/>
          </a:ln>
        </p:spPr>
        <p:txBody>
          <a:bodyPr anchorCtr="0" anchor="t" bIns="0" lIns="0" spcFirstLastPara="1" rIns="0" wrap="square" tIns="0">
            <a:spAutoFit/>
          </a:bodyPr>
          <a:lstStyle/>
          <a:p>
            <a:pPr indent="0" lvl="0" marL="0" marR="0" rtl="0" algn="l">
              <a:lnSpc>
                <a:spcPct val="250016"/>
              </a:lnSpc>
              <a:spcBef>
                <a:spcPts val="0"/>
              </a:spcBef>
              <a:spcAft>
                <a:spcPts val="0"/>
              </a:spcAft>
              <a:buNone/>
            </a:pPr>
            <a:r>
              <a:rPr b="0" i="0" lang="en-US" sz="2999" u="none" cap="none" strike="noStrike">
                <a:solidFill>
                  <a:srgbClr val="000000"/>
                </a:solidFill>
                <a:latin typeface="Times New Roman"/>
                <a:ea typeface="Times New Roman"/>
                <a:cs typeface="Times New Roman"/>
                <a:sym typeface="Times New Roman"/>
              </a:rPr>
              <a:t> </a:t>
            </a:r>
            <a:endParaRPr/>
          </a:p>
        </p:txBody>
      </p:sp>
      <p:sp>
        <p:nvSpPr>
          <p:cNvPr id="190" name="Google Shape;190;p23"/>
          <p:cNvSpPr/>
          <p:nvPr/>
        </p:nvSpPr>
        <p:spPr>
          <a:xfrm>
            <a:off x="353963" y="2046836"/>
            <a:ext cx="5146214" cy="5196177"/>
          </a:xfrm>
          <a:custGeom>
            <a:rect b="b" l="l" r="r" t="t"/>
            <a:pathLst>
              <a:path extrusionOk="0" h="5196177" w="5146214">
                <a:moveTo>
                  <a:pt x="0" y="0"/>
                </a:moveTo>
                <a:lnTo>
                  <a:pt x="5146214" y="0"/>
                </a:lnTo>
                <a:lnTo>
                  <a:pt x="5146214" y="5196177"/>
                </a:lnTo>
                <a:lnTo>
                  <a:pt x="0" y="5196177"/>
                </a:lnTo>
                <a:lnTo>
                  <a:pt x="0" y="0"/>
                </a:lnTo>
                <a:close/>
              </a:path>
            </a:pathLst>
          </a:custGeom>
          <a:blipFill rotWithShape="1">
            <a:blip r:embed="rId5">
              <a:alphaModFix/>
            </a:blip>
            <a:stretch>
              <a:fillRect b="0" l="0" r="0" t="0"/>
            </a:stretch>
          </a:blipFill>
          <a:ln>
            <a:noFill/>
          </a:ln>
        </p:spPr>
      </p:sp>
      <p:sp>
        <p:nvSpPr>
          <p:cNvPr id="191" name="Google Shape;191;p23"/>
          <p:cNvSpPr/>
          <p:nvPr/>
        </p:nvSpPr>
        <p:spPr>
          <a:xfrm>
            <a:off x="5965582" y="2046836"/>
            <a:ext cx="5064937" cy="5196177"/>
          </a:xfrm>
          <a:custGeom>
            <a:rect b="b" l="l" r="r" t="t"/>
            <a:pathLst>
              <a:path extrusionOk="0" h="5196177" w="5064937">
                <a:moveTo>
                  <a:pt x="0" y="0"/>
                </a:moveTo>
                <a:lnTo>
                  <a:pt x="5064937" y="0"/>
                </a:lnTo>
                <a:lnTo>
                  <a:pt x="5064937" y="5196177"/>
                </a:lnTo>
                <a:lnTo>
                  <a:pt x="0" y="5196177"/>
                </a:lnTo>
                <a:lnTo>
                  <a:pt x="0" y="0"/>
                </a:lnTo>
                <a:close/>
              </a:path>
            </a:pathLst>
          </a:custGeom>
          <a:blipFill rotWithShape="1">
            <a:blip r:embed="rId6">
              <a:alphaModFix/>
            </a:blip>
            <a:stretch>
              <a:fillRect b="-5595" l="-5654" r="0" t="-684"/>
            </a:stretch>
          </a:blipFill>
          <a:ln>
            <a:noFill/>
          </a:ln>
        </p:spPr>
      </p:sp>
      <p:sp>
        <p:nvSpPr>
          <p:cNvPr id="192" name="Google Shape;192;p23"/>
          <p:cNvSpPr/>
          <p:nvPr/>
        </p:nvSpPr>
        <p:spPr>
          <a:xfrm>
            <a:off x="11495925" y="2358199"/>
            <a:ext cx="6492931" cy="4573451"/>
          </a:xfrm>
          <a:custGeom>
            <a:rect b="b" l="l" r="r" t="t"/>
            <a:pathLst>
              <a:path extrusionOk="0" h="4573451" w="6492931">
                <a:moveTo>
                  <a:pt x="0" y="0"/>
                </a:moveTo>
                <a:lnTo>
                  <a:pt x="6492930" y="0"/>
                </a:lnTo>
                <a:lnTo>
                  <a:pt x="6492930" y="4573451"/>
                </a:lnTo>
                <a:lnTo>
                  <a:pt x="0" y="4573451"/>
                </a:lnTo>
                <a:lnTo>
                  <a:pt x="0" y="0"/>
                </a:lnTo>
                <a:close/>
              </a:path>
            </a:pathLst>
          </a:custGeom>
          <a:blipFill rotWithShape="1">
            <a:blip r:embed="rId7">
              <a:alphaModFix/>
            </a:blip>
            <a:stretch>
              <a:fillRect b="-2361" l="0" r="0" t="-5142"/>
            </a:stretch>
          </a:blipFill>
          <a:ln>
            <a:noFill/>
          </a:ln>
        </p:spPr>
      </p:sp>
      <p:sp>
        <p:nvSpPr>
          <p:cNvPr id="193" name="Google Shape;193;p23"/>
          <p:cNvSpPr txBox="1"/>
          <p:nvPr/>
        </p:nvSpPr>
        <p:spPr>
          <a:xfrm>
            <a:off x="7476658" y="223418"/>
            <a:ext cx="2432366" cy="805282"/>
          </a:xfrm>
          <a:prstGeom prst="rect">
            <a:avLst/>
          </a:prstGeom>
          <a:noFill/>
          <a:ln>
            <a:noFill/>
          </a:ln>
        </p:spPr>
        <p:txBody>
          <a:bodyPr anchorCtr="0" anchor="t" bIns="0" lIns="0" spcFirstLastPara="1" rIns="0" wrap="square" tIns="0">
            <a:spAutoFit/>
          </a:bodyPr>
          <a:lstStyle/>
          <a:p>
            <a:pPr indent="0" lvl="0" marL="0" marR="0" rtl="0" algn="l">
              <a:lnSpc>
                <a:spcPct val="99896"/>
              </a:lnSpc>
              <a:spcBef>
                <a:spcPts val="0"/>
              </a:spcBef>
              <a:spcAft>
                <a:spcPts val="0"/>
              </a:spcAft>
              <a:buNone/>
            </a:pPr>
            <a:r>
              <a:rPr b="1" i="0" lang="en-US" sz="5800" u="none" cap="none" strike="noStrike">
                <a:solidFill>
                  <a:srgbClr val="000000"/>
                </a:solidFill>
                <a:latin typeface="Times"/>
                <a:ea typeface="Times"/>
                <a:cs typeface="Times"/>
                <a:sym typeface="Times"/>
              </a:rPr>
              <a:t>Results</a:t>
            </a:r>
            <a:endParaRPr/>
          </a:p>
        </p:txBody>
      </p:sp>
      <p:sp>
        <p:nvSpPr>
          <p:cNvPr id="194" name="Google Shape;194;p23"/>
          <p:cNvSpPr txBox="1"/>
          <p:nvPr/>
        </p:nvSpPr>
        <p:spPr>
          <a:xfrm>
            <a:off x="7385416" y="1160937"/>
            <a:ext cx="2614851" cy="566439"/>
          </a:xfrm>
          <a:prstGeom prst="rect">
            <a:avLst/>
          </a:prstGeom>
          <a:noFill/>
          <a:ln>
            <a:noFill/>
          </a:ln>
        </p:spPr>
        <p:txBody>
          <a:bodyPr anchorCtr="0" anchor="t" bIns="0" lIns="0" spcFirstLastPara="1" rIns="0" wrap="square" tIns="0">
            <a:spAutoFit/>
          </a:bodyPr>
          <a:lstStyle/>
          <a:p>
            <a:pPr indent="0" lvl="0" marL="0" marR="0" rtl="0" algn="ctr">
              <a:lnSpc>
                <a:spcPct val="139981"/>
              </a:lnSpc>
              <a:spcBef>
                <a:spcPts val="0"/>
              </a:spcBef>
              <a:spcAft>
                <a:spcPts val="0"/>
              </a:spcAft>
              <a:buNone/>
            </a:pPr>
            <a:r>
              <a:rPr b="1" i="0" lang="en-US" sz="3199" u="sng" cap="none" strike="noStrike">
                <a:solidFill>
                  <a:srgbClr val="000000"/>
                </a:solidFill>
                <a:latin typeface="Times"/>
                <a:ea typeface="Times"/>
                <a:cs typeface="Times"/>
                <a:sym typeface="Times"/>
              </a:rPr>
              <a:t>ROUTE PATH</a:t>
            </a:r>
            <a:endParaRPr/>
          </a:p>
        </p:txBody>
      </p:sp>
      <p:sp>
        <p:nvSpPr>
          <p:cNvPr id="195" name="Google Shape;195;p23"/>
          <p:cNvSpPr txBox="1"/>
          <p:nvPr/>
        </p:nvSpPr>
        <p:spPr>
          <a:xfrm>
            <a:off x="239075" y="7634068"/>
            <a:ext cx="17749780" cy="1527633"/>
          </a:xfrm>
          <a:prstGeom prst="rect">
            <a:avLst/>
          </a:prstGeom>
          <a:noFill/>
          <a:ln>
            <a:noFill/>
          </a:ln>
        </p:spPr>
        <p:txBody>
          <a:bodyPr anchorCtr="0" anchor="t" bIns="0" lIns="0" spcFirstLastPara="1" rIns="0" wrap="square" tIns="0">
            <a:spAutoFit/>
          </a:bodyPr>
          <a:lstStyle/>
          <a:p>
            <a:pPr indent="0" lvl="0" marL="0" marR="0" rtl="0" algn="ctr">
              <a:lnSpc>
                <a:spcPct val="140034"/>
              </a:lnSpc>
              <a:spcBef>
                <a:spcPts val="0"/>
              </a:spcBef>
              <a:spcAft>
                <a:spcPts val="0"/>
              </a:spcAft>
              <a:buNone/>
            </a:pPr>
            <a:r>
              <a:rPr b="0" i="0" lang="en-US" sz="2910" u="none" cap="none" strike="noStrike">
                <a:solidFill>
                  <a:srgbClr val="000000"/>
                </a:solidFill>
                <a:latin typeface="Times New Roman"/>
                <a:ea typeface="Times New Roman"/>
                <a:cs typeface="Times New Roman"/>
                <a:sym typeface="Times New Roman"/>
              </a:rPr>
              <a:t>From the comparison, NN produces irregular and longer routes due to its greedy nature, while Clarke-Wright provides moderate improvement through route merging. EDA outperforms both by generating structured and optimized routes, demonstrating its effectiveness in solving large-scale and stochastic routing problems.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99" name="Shape 199"/>
        <p:cNvGrpSpPr/>
        <p:nvPr/>
      </p:nvGrpSpPr>
      <p:grpSpPr>
        <a:xfrm>
          <a:off x="0" y="0"/>
          <a:ext cx="0" cy="0"/>
          <a:chOff x="0" y="0"/>
          <a:chExt cx="0" cy="0"/>
        </a:xfrm>
      </p:grpSpPr>
      <p:sp>
        <p:nvSpPr>
          <p:cNvPr id="200" name="Google Shape;200;p24"/>
          <p:cNvSpPr/>
          <p:nvPr/>
        </p:nvSpPr>
        <p:spPr>
          <a:xfrm>
            <a:off x="0" y="10134600"/>
            <a:ext cx="18288000" cy="152400"/>
          </a:xfrm>
          <a:custGeom>
            <a:rect b="b" l="l" r="r" t="t"/>
            <a:pathLst>
              <a:path extrusionOk="0" h="203200" w="24384000">
                <a:moveTo>
                  <a:pt x="0" y="0"/>
                </a:moveTo>
                <a:lnTo>
                  <a:pt x="24384000" y="0"/>
                </a:lnTo>
                <a:lnTo>
                  <a:pt x="24384000" y="203200"/>
                </a:lnTo>
                <a:lnTo>
                  <a:pt x="0" y="203200"/>
                </a:lnTo>
                <a:lnTo>
                  <a:pt x="0" y="0"/>
                </a:lnTo>
                <a:close/>
              </a:path>
            </a:pathLst>
          </a:custGeom>
          <a:blipFill rotWithShape="1">
            <a:blip r:embed="rId3">
              <a:alphaModFix/>
            </a:blip>
            <a:stretch>
              <a:fillRect b="0" l="0" r="0" t="0"/>
            </a:stretch>
          </a:blipFill>
          <a:ln>
            <a:noFill/>
          </a:ln>
        </p:spPr>
      </p:sp>
      <p:sp>
        <p:nvSpPr>
          <p:cNvPr id="201" name="Google Shape;201;p24"/>
          <p:cNvSpPr/>
          <p:nvPr/>
        </p:nvSpPr>
        <p:spPr>
          <a:xfrm>
            <a:off x="538220" y="9058418"/>
            <a:ext cx="2048732" cy="898494"/>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4">
              <a:alphaModFix/>
            </a:blip>
            <a:stretch>
              <a:fillRect b="-164802" l="-72592" r="-72212" t="-164493"/>
            </a:stretch>
          </a:blipFill>
          <a:ln>
            <a:noFill/>
          </a:ln>
        </p:spPr>
      </p:sp>
      <p:sp>
        <p:nvSpPr>
          <p:cNvPr id="202" name="Google Shape;202;p24"/>
          <p:cNvSpPr txBox="1"/>
          <p:nvPr/>
        </p:nvSpPr>
        <p:spPr>
          <a:xfrm>
            <a:off x="2048475" y="1777194"/>
            <a:ext cx="95250" cy="838324"/>
          </a:xfrm>
          <a:prstGeom prst="rect">
            <a:avLst/>
          </a:prstGeom>
          <a:noFill/>
          <a:ln>
            <a:noFill/>
          </a:ln>
        </p:spPr>
        <p:txBody>
          <a:bodyPr anchorCtr="0" anchor="t" bIns="0" lIns="0" spcFirstLastPara="1" rIns="0" wrap="square" tIns="0">
            <a:spAutoFit/>
          </a:bodyPr>
          <a:lstStyle/>
          <a:p>
            <a:pPr indent="0" lvl="0" marL="0" marR="0" rtl="0" algn="l">
              <a:lnSpc>
                <a:spcPct val="250016"/>
              </a:lnSpc>
              <a:spcBef>
                <a:spcPts val="0"/>
              </a:spcBef>
              <a:spcAft>
                <a:spcPts val="0"/>
              </a:spcAft>
              <a:buNone/>
            </a:pPr>
            <a:r>
              <a:rPr b="0" i="0" lang="en-US" sz="2999" u="none" cap="none" strike="noStrike">
                <a:solidFill>
                  <a:srgbClr val="000000"/>
                </a:solidFill>
                <a:latin typeface="Times New Roman"/>
                <a:ea typeface="Times New Roman"/>
                <a:cs typeface="Times New Roman"/>
                <a:sym typeface="Times New Roman"/>
              </a:rPr>
              <a:t> </a:t>
            </a:r>
            <a:endParaRPr/>
          </a:p>
        </p:txBody>
      </p:sp>
      <p:sp>
        <p:nvSpPr>
          <p:cNvPr id="203" name="Google Shape;203;p24"/>
          <p:cNvSpPr/>
          <p:nvPr/>
        </p:nvSpPr>
        <p:spPr>
          <a:xfrm>
            <a:off x="1207058" y="1681979"/>
            <a:ext cx="8996877" cy="6923042"/>
          </a:xfrm>
          <a:custGeom>
            <a:rect b="b" l="l" r="r" t="t"/>
            <a:pathLst>
              <a:path extrusionOk="0" h="6923042" w="8996877">
                <a:moveTo>
                  <a:pt x="0" y="0"/>
                </a:moveTo>
                <a:lnTo>
                  <a:pt x="8996877" y="0"/>
                </a:lnTo>
                <a:lnTo>
                  <a:pt x="8996877" y="6923042"/>
                </a:lnTo>
                <a:lnTo>
                  <a:pt x="0" y="6923042"/>
                </a:lnTo>
                <a:lnTo>
                  <a:pt x="0" y="0"/>
                </a:lnTo>
                <a:close/>
              </a:path>
            </a:pathLst>
          </a:custGeom>
          <a:blipFill rotWithShape="1">
            <a:blip r:embed="rId5">
              <a:alphaModFix/>
            </a:blip>
            <a:stretch>
              <a:fillRect b="-398" l="0" r="-7719" t="-3716"/>
            </a:stretch>
          </a:blipFill>
          <a:ln>
            <a:noFill/>
          </a:ln>
        </p:spPr>
      </p:sp>
      <p:sp>
        <p:nvSpPr>
          <p:cNvPr id="204" name="Google Shape;204;p24"/>
          <p:cNvSpPr/>
          <p:nvPr/>
        </p:nvSpPr>
        <p:spPr>
          <a:xfrm>
            <a:off x="10803003" y="0"/>
            <a:ext cx="6836279" cy="4660536"/>
          </a:xfrm>
          <a:custGeom>
            <a:rect b="b" l="l" r="r" t="t"/>
            <a:pathLst>
              <a:path extrusionOk="0" h="4660536" w="6836279">
                <a:moveTo>
                  <a:pt x="0" y="0"/>
                </a:moveTo>
                <a:lnTo>
                  <a:pt x="6836280" y="0"/>
                </a:lnTo>
                <a:lnTo>
                  <a:pt x="6836280" y="4660536"/>
                </a:lnTo>
                <a:lnTo>
                  <a:pt x="0" y="4660536"/>
                </a:lnTo>
                <a:lnTo>
                  <a:pt x="0" y="0"/>
                </a:lnTo>
                <a:close/>
              </a:path>
            </a:pathLst>
          </a:custGeom>
          <a:blipFill rotWithShape="1">
            <a:blip r:embed="rId6">
              <a:alphaModFix/>
            </a:blip>
            <a:stretch>
              <a:fillRect b="-6817" l="0" r="-1933" t="-6817"/>
            </a:stretch>
          </a:blipFill>
          <a:ln>
            <a:noFill/>
          </a:ln>
        </p:spPr>
      </p:sp>
      <p:sp>
        <p:nvSpPr>
          <p:cNvPr id="205" name="Google Shape;205;p24"/>
          <p:cNvSpPr/>
          <p:nvPr/>
        </p:nvSpPr>
        <p:spPr>
          <a:xfrm>
            <a:off x="10803003" y="4880966"/>
            <a:ext cx="7031246" cy="5253634"/>
          </a:xfrm>
          <a:custGeom>
            <a:rect b="b" l="l" r="r" t="t"/>
            <a:pathLst>
              <a:path extrusionOk="0" h="5253634" w="7031246">
                <a:moveTo>
                  <a:pt x="0" y="0"/>
                </a:moveTo>
                <a:lnTo>
                  <a:pt x="7031246" y="0"/>
                </a:lnTo>
                <a:lnTo>
                  <a:pt x="7031246" y="5253634"/>
                </a:lnTo>
                <a:lnTo>
                  <a:pt x="0" y="5253634"/>
                </a:lnTo>
                <a:lnTo>
                  <a:pt x="0" y="0"/>
                </a:lnTo>
                <a:close/>
              </a:path>
            </a:pathLst>
          </a:custGeom>
          <a:blipFill rotWithShape="1">
            <a:blip r:embed="rId7">
              <a:alphaModFix/>
            </a:blip>
            <a:stretch>
              <a:fillRect b="0" l="0" r="0" t="0"/>
            </a:stretch>
          </a:blipFill>
          <a:ln>
            <a:noFill/>
          </a:ln>
        </p:spPr>
      </p:sp>
      <p:sp>
        <p:nvSpPr>
          <p:cNvPr id="206" name="Google Shape;206;p24"/>
          <p:cNvSpPr txBox="1"/>
          <p:nvPr/>
        </p:nvSpPr>
        <p:spPr>
          <a:xfrm>
            <a:off x="16573700" y="9571806"/>
            <a:ext cx="374094" cy="32575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800" u="none" cap="none" strike="noStrike">
                <a:solidFill>
                  <a:srgbClr val="7F7F7F"/>
                </a:solidFill>
                <a:latin typeface="Times"/>
                <a:ea typeface="Times"/>
                <a:cs typeface="Times"/>
                <a:sym typeface="Times"/>
              </a:rPr>
              <a:t>|</a:t>
            </a:r>
            <a:r>
              <a:rPr b="0" i="0" lang="en-US" sz="1800" u="none" cap="none" strike="noStrike">
                <a:solidFill>
                  <a:srgbClr val="7F7F7F"/>
                </a:solidFill>
                <a:latin typeface="Times New Roman"/>
                <a:ea typeface="Times New Roman"/>
                <a:cs typeface="Times New Roman"/>
                <a:sym typeface="Times New Roman"/>
              </a:rPr>
              <a:t> ‹#›</a:t>
            </a:r>
            <a:endParaRPr/>
          </a:p>
        </p:txBody>
      </p:sp>
      <p:sp>
        <p:nvSpPr>
          <p:cNvPr id="207" name="Google Shape;207;p24"/>
          <p:cNvSpPr txBox="1"/>
          <p:nvPr/>
        </p:nvSpPr>
        <p:spPr>
          <a:xfrm>
            <a:off x="273793" y="330537"/>
            <a:ext cx="3928025" cy="819912"/>
          </a:xfrm>
          <a:prstGeom prst="rect">
            <a:avLst/>
          </a:prstGeom>
          <a:noFill/>
          <a:ln>
            <a:noFill/>
          </a:ln>
        </p:spPr>
        <p:txBody>
          <a:bodyPr anchorCtr="0" anchor="t" bIns="0" lIns="0" spcFirstLastPara="1" rIns="0" wrap="square" tIns="0">
            <a:spAutoFit/>
          </a:bodyPr>
          <a:lstStyle/>
          <a:p>
            <a:pPr indent="0" lvl="0" marL="0" marR="0" rtl="0" algn="l">
              <a:lnSpc>
                <a:spcPct val="99900"/>
              </a:lnSpc>
              <a:spcBef>
                <a:spcPts val="0"/>
              </a:spcBef>
              <a:spcAft>
                <a:spcPts val="0"/>
              </a:spcAft>
              <a:buNone/>
            </a:pPr>
            <a:r>
              <a:rPr b="1" i="0" lang="en-US" sz="6000" u="none" cap="none" strike="noStrike">
                <a:solidFill>
                  <a:srgbClr val="000000"/>
                </a:solidFill>
                <a:latin typeface="Times"/>
                <a:ea typeface="Times"/>
                <a:cs typeface="Times"/>
                <a:sym typeface="Times"/>
              </a:rPr>
              <a:t>Results: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211" name="Shape 211"/>
        <p:cNvGrpSpPr/>
        <p:nvPr/>
      </p:nvGrpSpPr>
      <p:grpSpPr>
        <a:xfrm>
          <a:off x="0" y="0"/>
          <a:ext cx="0" cy="0"/>
          <a:chOff x="0" y="0"/>
          <a:chExt cx="0" cy="0"/>
        </a:xfrm>
      </p:grpSpPr>
      <p:sp>
        <p:nvSpPr>
          <p:cNvPr id="212" name="Google Shape;212;p25"/>
          <p:cNvSpPr/>
          <p:nvPr/>
        </p:nvSpPr>
        <p:spPr>
          <a:xfrm>
            <a:off x="0" y="10134600"/>
            <a:ext cx="18288000" cy="152400"/>
          </a:xfrm>
          <a:custGeom>
            <a:rect b="b" l="l" r="r" t="t"/>
            <a:pathLst>
              <a:path extrusionOk="0" h="203200" w="24384000">
                <a:moveTo>
                  <a:pt x="0" y="0"/>
                </a:moveTo>
                <a:lnTo>
                  <a:pt x="24384000" y="0"/>
                </a:lnTo>
                <a:lnTo>
                  <a:pt x="24384000" y="203200"/>
                </a:lnTo>
                <a:lnTo>
                  <a:pt x="0" y="203200"/>
                </a:lnTo>
                <a:lnTo>
                  <a:pt x="0" y="0"/>
                </a:lnTo>
                <a:close/>
              </a:path>
            </a:pathLst>
          </a:custGeom>
          <a:blipFill rotWithShape="1">
            <a:blip r:embed="rId3">
              <a:alphaModFix/>
            </a:blip>
            <a:stretch>
              <a:fillRect b="0" l="0" r="0" t="0"/>
            </a:stretch>
          </a:blipFill>
          <a:ln>
            <a:noFill/>
          </a:ln>
        </p:spPr>
      </p:sp>
      <p:sp>
        <p:nvSpPr>
          <p:cNvPr id="213" name="Google Shape;213;p25"/>
          <p:cNvSpPr/>
          <p:nvPr/>
        </p:nvSpPr>
        <p:spPr>
          <a:xfrm>
            <a:off x="538220" y="9058418"/>
            <a:ext cx="2048732" cy="898494"/>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4">
              <a:alphaModFix/>
            </a:blip>
            <a:stretch>
              <a:fillRect b="-164802" l="-72592" r="-72212" t="-164493"/>
            </a:stretch>
          </a:blipFill>
          <a:ln>
            <a:noFill/>
          </a:ln>
        </p:spPr>
      </p:sp>
      <p:sp>
        <p:nvSpPr>
          <p:cNvPr id="214" name="Google Shape;214;p25"/>
          <p:cNvSpPr txBox="1"/>
          <p:nvPr/>
        </p:nvSpPr>
        <p:spPr>
          <a:xfrm>
            <a:off x="6063972" y="458224"/>
            <a:ext cx="6160056" cy="838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6000" u="none" cap="none" strike="noStrike">
                <a:solidFill>
                  <a:srgbClr val="000000"/>
                </a:solidFill>
                <a:latin typeface="Times"/>
                <a:ea typeface="Times"/>
                <a:cs typeface="Times"/>
                <a:sym typeface="Times"/>
              </a:rPr>
              <a:t>Markov Inequality</a:t>
            </a:r>
            <a:endParaRPr/>
          </a:p>
        </p:txBody>
      </p:sp>
      <p:sp>
        <p:nvSpPr>
          <p:cNvPr id="215" name="Google Shape;215;p25"/>
          <p:cNvSpPr txBox="1"/>
          <p:nvPr/>
        </p:nvSpPr>
        <p:spPr>
          <a:xfrm>
            <a:off x="3333645" y="1632414"/>
            <a:ext cx="95250" cy="806306"/>
          </a:xfrm>
          <a:prstGeom prst="rect">
            <a:avLst/>
          </a:prstGeom>
          <a:noFill/>
          <a:ln>
            <a:noFill/>
          </a:ln>
        </p:spPr>
        <p:txBody>
          <a:bodyPr anchorCtr="0" anchor="t" bIns="0" lIns="0" spcFirstLastPara="1" rIns="0" wrap="square" tIns="0">
            <a:spAutoFit/>
          </a:bodyPr>
          <a:lstStyle/>
          <a:p>
            <a:pPr indent="0" lvl="0" marL="0" marR="0" rtl="0" algn="l">
              <a:lnSpc>
                <a:spcPct val="235911"/>
              </a:lnSpc>
              <a:spcBef>
                <a:spcPts val="0"/>
              </a:spcBef>
              <a:spcAft>
                <a:spcPts val="0"/>
              </a:spcAft>
              <a:buNone/>
            </a:pPr>
            <a:r>
              <a:rPr b="0" i="0" lang="en-US" sz="2999" u="none" cap="none" strike="noStrike">
                <a:solidFill>
                  <a:srgbClr val="000000"/>
                </a:solidFill>
                <a:latin typeface="Times New Roman"/>
                <a:ea typeface="Times New Roman"/>
                <a:cs typeface="Times New Roman"/>
                <a:sym typeface="Times New Roman"/>
              </a:rPr>
              <a:t> </a:t>
            </a:r>
            <a:endParaRPr/>
          </a:p>
        </p:txBody>
      </p:sp>
      <p:sp>
        <p:nvSpPr>
          <p:cNvPr id="216" name="Google Shape;216;p25"/>
          <p:cNvSpPr txBox="1"/>
          <p:nvPr/>
        </p:nvSpPr>
        <p:spPr>
          <a:xfrm>
            <a:off x="1028700" y="1889589"/>
            <a:ext cx="9733369" cy="433114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525" u="none" cap="none" strike="noStrike">
                <a:solidFill>
                  <a:srgbClr val="000000"/>
                </a:solidFill>
                <a:latin typeface="Times New Roman"/>
                <a:ea typeface="Times New Roman"/>
                <a:cs typeface="Times New Roman"/>
                <a:sym typeface="Times New Roman"/>
              </a:rPr>
              <a:t>This inequality is used for delay analysis.</a:t>
            </a:r>
            <a:endParaRPr/>
          </a:p>
          <a:p>
            <a:pPr indent="0" lvl="0" marL="0" marR="0" rtl="0" algn="l">
              <a:lnSpc>
                <a:spcPct val="140000"/>
              </a:lnSpc>
              <a:spcBef>
                <a:spcPts val="0"/>
              </a:spcBef>
              <a:spcAft>
                <a:spcPts val="0"/>
              </a:spcAft>
              <a:buNone/>
            </a:pPr>
            <a:r>
              <a:rPr b="0" i="0" lang="en-US" sz="3525" u="none" cap="none" strike="noStrike">
                <a:solidFill>
                  <a:srgbClr val="000000"/>
                </a:solidFill>
                <a:latin typeface="Times New Roman"/>
                <a:ea typeface="Times New Roman"/>
                <a:cs typeface="Times New Roman"/>
                <a:sym typeface="Times New Roman"/>
              </a:rPr>
              <a:t>Equation: </a:t>
            </a:r>
            <a:endParaRPr/>
          </a:p>
          <a:p>
            <a:pPr indent="0" lvl="0" marL="0" marR="0" rtl="0" algn="l">
              <a:lnSpc>
                <a:spcPct val="140000"/>
              </a:lnSpc>
              <a:spcBef>
                <a:spcPts val="0"/>
              </a:spcBef>
              <a:spcAft>
                <a:spcPts val="0"/>
              </a:spcAft>
              <a:buNone/>
            </a:pPr>
            <a:r>
              <a:t/>
            </a:r>
            <a:endParaRPr b="0" i="0" sz="3525" u="none" cap="none" strike="noStrike">
              <a:solidFill>
                <a:srgbClr val="000000"/>
              </a:solidFill>
              <a:latin typeface="Times New Roman"/>
              <a:ea typeface="Times New Roman"/>
              <a:cs typeface="Times New Roman"/>
              <a:sym typeface="Times New Roman"/>
            </a:endParaRPr>
          </a:p>
          <a:p>
            <a:pPr indent="-380557" lvl="1" marL="761114" marR="0" rtl="0" algn="l">
              <a:lnSpc>
                <a:spcPct val="140000"/>
              </a:lnSpc>
              <a:spcBef>
                <a:spcPts val="0"/>
              </a:spcBef>
              <a:spcAft>
                <a:spcPts val="0"/>
              </a:spcAft>
              <a:buClr>
                <a:srgbClr val="000000"/>
              </a:buClr>
              <a:buSzPts val="3525"/>
              <a:buFont typeface="Arial"/>
              <a:buChar char="•"/>
            </a:pPr>
            <a:r>
              <a:rPr b="0" i="0" lang="en-US" sz="3525" u="none" cap="none" strike="noStrike">
                <a:solidFill>
                  <a:srgbClr val="000000"/>
                </a:solidFill>
                <a:latin typeface="Times New Roman"/>
                <a:ea typeface="Times New Roman"/>
                <a:cs typeface="Times New Roman"/>
                <a:sym typeface="Times New Roman"/>
              </a:rPr>
              <a:t>Provides upper bound on delay probability</a:t>
            </a:r>
            <a:endParaRPr/>
          </a:p>
          <a:p>
            <a:pPr indent="-380557" lvl="1" marL="761114" marR="0" rtl="0" algn="l">
              <a:lnSpc>
                <a:spcPct val="140000"/>
              </a:lnSpc>
              <a:spcBef>
                <a:spcPts val="0"/>
              </a:spcBef>
              <a:spcAft>
                <a:spcPts val="0"/>
              </a:spcAft>
              <a:buClr>
                <a:srgbClr val="000000"/>
              </a:buClr>
              <a:buSzPts val="3525"/>
              <a:buFont typeface="Arial"/>
              <a:buChar char="•"/>
            </a:pPr>
            <a:r>
              <a:rPr b="0" i="0" lang="en-US" sz="3525" u="none" cap="none" strike="noStrike">
                <a:solidFill>
                  <a:srgbClr val="000000"/>
                </a:solidFill>
                <a:latin typeface="Times New Roman"/>
                <a:ea typeface="Times New Roman"/>
                <a:cs typeface="Times New Roman"/>
                <a:sym typeface="Times New Roman"/>
              </a:rPr>
              <a:t>Available as Troute &gt; 0</a:t>
            </a:r>
            <a:endParaRPr/>
          </a:p>
          <a:p>
            <a:pPr indent="-380557" lvl="1" marL="761114" marR="0" rtl="0" algn="l">
              <a:lnSpc>
                <a:spcPct val="140000"/>
              </a:lnSpc>
              <a:spcBef>
                <a:spcPts val="0"/>
              </a:spcBef>
              <a:spcAft>
                <a:spcPts val="0"/>
              </a:spcAft>
              <a:buClr>
                <a:srgbClr val="000000"/>
              </a:buClr>
              <a:buSzPts val="3525"/>
              <a:buFont typeface="Arial"/>
              <a:buChar char="•"/>
            </a:pPr>
            <a:r>
              <a:rPr b="0" i="0" lang="en-US" sz="3525" u="none" cap="none" strike="noStrike">
                <a:solidFill>
                  <a:srgbClr val="000000"/>
                </a:solidFill>
                <a:latin typeface="Times New Roman"/>
                <a:ea typeface="Times New Roman"/>
                <a:cs typeface="Times New Roman"/>
                <a:sym typeface="Times New Roman"/>
              </a:rPr>
              <a:t>Helps quantify the risk of extreme delays</a:t>
            </a:r>
            <a:endParaRPr/>
          </a:p>
          <a:p>
            <a:pPr indent="-380557" lvl="1" marL="761114" marR="0" rtl="0" algn="l">
              <a:lnSpc>
                <a:spcPct val="140000"/>
              </a:lnSpc>
              <a:spcBef>
                <a:spcPts val="0"/>
              </a:spcBef>
              <a:spcAft>
                <a:spcPts val="0"/>
              </a:spcAft>
              <a:buClr>
                <a:srgbClr val="000000"/>
              </a:buClr>
              <a:buSzPts val="3525"/>
              <a:buFont typeface="Arial"/>
              <a:buChar char="•"/>
            </a:pPr>
            <a:r>
              <a:rPr b="0" i="0" lang="en-US" sz="3525" u="none" cap="none" strike="noStrike">
                <a:solidFill>
                  <a:srgbClr val="000000"/>
                </a:solidFill>
                <a:latin typeface="Times New Roman"/>
                <a:ea typeface="Times New Roman"/>
                <a:cs typeface="Times New Roman"/>
                <a:sym typeface="Times New Roman"/>
              </a:rPr>
              <a:t>Useful when distribution is unknown</a:t>
            </a:r>
            <a:endParaRPr/>
          </a:p>
        </p:txBody>
      </p:sp>
      <p:pic>
        <p:nvPicPr>
          <p:cNvPr id="217" name="Google Shape;217;p25"/>
          <p:cNvPicPr preferRelativeResize="0"/>
          <p:nvPr/>
        </p:nvPicPr>
        <p:blipFill rotWithShape="1">
          <a:blip r:embed="rId5">
            <a:alphaModFix/>
          </a:blip>
          <a:srcRect b="0" l="0" r="0" t="0"/>
          <a:stretch/>
        </p:blipFill>
        <p:spPr>
          <a:xfrm>
            <a:off x="2506229" y="2144427"/>
            <a:ext cx="4667759" cy="154028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221" name="Shape 221"/>
        <p:cNvGrpSpPr/>
        <p:nvPr/>
      </p:nvGrpSpPr>
      <p:grpSpPr>
        <a:xfrm>
          <a:off x="0" y="0"/>
          <a:ext cx="0" cy="0"/>
          <a:chOff x="0" y="0"/>
          <a:chExt cx="0" cy="0"/>
        </a:xfrm>
      </p:grpSpPr>
      <p:sp>
        <p:nvSpPr>
          <p:cNvPr id="222" name="Google Shape;222;p26"/>
          <p:cNvSpPr/>
          <p:nvPr/>
        </p:nvSpPr>
        <p:spPr>
          <a:xfrm>
            <a:off x="0" y="10134600"/>
            <a:ext cx="18288000" cy="152400"/>
          </a:xfrm>
          <a:custGeom>
            <a:rect b="b" l="l" r="r" t="t"/>
            <a:pathLst>
              <a:path extrusionOk="0" h="203200" w="24384000">
                <a:moveTo>
                  <a:pt x="0" y="0"/>
                </a:moveTo>
                <a:lnTo>
                  <a:pt x="24384000" y="0"/>
                </a:lnTo>
                <a:lnTo>
                  <a:pt x="24384000" y="203200"/>
                </a:lnTo>
                <a:lnTo>
                  <a:pt x="0" y="203200"/>
                </a:lnTo>
                <a:lnTo>
                  <a:pt x="0" y="0"/>
                </a:lnTo>
                <a:close/>
              </a:path>
            </a:pathLst>
          </a:custGeom>
          <a:blipFill rotWithShape="1">
            <a:blip r:embed="rId3">
              <a:alphaModFix/>
            </a:blip>
            <a:stretch>
              <a:fillRect b="0" l="0" r="0" t="0"/>
            </a:stretch>
          </a:blipFill>
          <a:ln>
            <a:noFill/>
          </a:ln>
        </p:spPr>
      </p:sp>
      <p:sp>
        <p:nvSpPr>
          <p:cNvPr id="223" name="Google Shape;223;p26"/>
          <p:cNvSpPr/>
          <p:nvPr/>
        </p:nvSpPr>
        <p:spPr>
          <a:xfrm>
            <a:off x="538220" y="9058418"/>
            <a:ext cx="2048732" cy="898494"/>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4">
              <a:alphaModFix/>
            </a:blip>
            <a:stretch>
              <a:fillRect b="-164802" l="-72592" r="-72212" t="-164493"/>
            </a:stretch>
          </a:blipFill>
          <a:ln>
            <a:noFill/>
          </a:ln>
        </p:spPr>
      </p:sp>
      <p:sp>
        <p:nvSpPr>
          <p:cNvPr id="224" name="Google Shape;224;p26"/>
          <p:cNvSpPr txBox="1"/>
          <p:nvPr/>
        </p:nvSpPr>
        <p:spPr>
          <a:xfrm>
            <a:off x="6063972" y="458224"/>
            <a:ext cx="7092434" cy="838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6000" u="none" cap="none" strike="noStrike">
                <a:solidFill>
                  <a:srgbClr val="000000"/>
                </a:solidFill>
                <a:latin typeface="Times"/>
                <a:ea typeface="Times"/>
                <a:cs typeface="Times"/>
                <a:sym typeface="Times"/>
              </a:rPr>
              <a:t>Chebyshev Inequality</a:t>
            </a:r>
            <a:endParaRPr/>
          </a:p>
        </p:txBody>
      </p:sp>
      <p:sp>
        <p:nvSpPr>
          <p:cNvPr id="225" name="Google Shape;225;p26"/>
          <p:cNvSpPr txBox="1"/>
          <p:nvPr/>
        </p:nvSpPr>
        <p:spPr>
          <a:xfrm>
            <a:off x="3333645" y="1632414"/>
            <a:ext cx="95250" cy="806306"/>
          </a:xfrm>
          <a:prstGeom prst="rect">
            <a:avLst/>
          </a:prstGeom>
          <a:noFill/>
          <a:ln>
            <a:noFill/>
          </a:ln>
        </p:spPr>
        <p:txBody>
          <a:bodyPr anchorCtr="0" anchor="t" bIns="0" lIns="0" spcFirstLastPara="1" rIns="0" wrap="square" tIns="0">
            <a:spAutoFit/>
          </a:bodyPr>
          <a:lstStyle/>
          <a:p>
            <a:pPr indent="0" lvl="0" marL="0" marR="0" rtl="0" algn="l">
              <a:lnSpc>
                <a:spcPct val="235911"/>
              </a:lnSpc>
              <a:spcBef>
                <a:spcPts val="0"/>
              </a:spcBef>
              <a:spcAft>
                <a:spcPts val="0"/>
              </a:spcAft>
              <a:buNone/>
            </a:pPr>
            <a:r>
              <a:rPr b="0" i="0" lang="en-US" sz="2999" u="none" cap="none" strike="noStrike">
                <a:solidFill>
                  <a:srgbClr val="000000"/>
                </a:solidFill>
                <a:latin typeface="Times New Roman"/>
                <a:ea typeface="Times New Roman"/>
                <a:cs typeface="Times New Roman"/>
                <a:sym typeface="Times New Roman"/>
              </a:rPr>
              <a:t> </a:t>
            </a:r>
            <a:endParaRPr/>
          </a:p>
        </p:txBody>
      </p:sp>
      <p:sp>
        <p:nvSpPr>
          <p:cNvPr id="226" name="Google Shape;226;p26"/>
          <p:cNvSpPr txBox="1"/>
          <p:nvPr/>
        </p:nvSpPr>
        <p:spPr>
          <a:xfrm>
            <a:off x="773133" y="2343470"/>
            <a:ext cx="1257178" cy="62483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3525" u="none" cap="none" strike="noStrike">
                <a:solidFill>
                  <a:srgbClr val="000000"/>
                </a:solidFill>
                <a:latin typeface="Times"/>
                <a:ea typeface="Times"/>
                <a:cs typeface="Times"/>
                <a:sym typeface="Times"/>
              </a:rPr>
              <a:t>Usage</a:t>
            </a:r>
            <a:endParaRPr/>
          </a:p>
        </p:txBody>
      </p:sp>
      <p:sp>
        <p:nvSpPr>
          <p:cNvPr id="227" name="Google Shape;227;p26"/>
          <p:cNvSpPr txBox="1"/>
          <p:nvPr/>
        </p:nvSpPr>
        <p:spPr>
          <a:xfrm>
            <a:off x="984032" y="3134308"/>
            <a:ext cx="6265052" cy="4075094"/>
          </a:xfrm>
          <a:prstGeom prst="rect">
            <a:avLst/>
          </a:prstGeom>
          <a:noFill/>
          <a:ln>
            <a:noFill/>
          </a:ln>
        </p:spPr>
        <p:txBody>
          <a:bodyPr anchorCtr="0" anchor="t" bIns="0" lIns="0" spcFirstLastPara="1" rIns="0" wrap="square" tIns="0">
            <a:spAutoFit/>
          </a:bodyPr>
          <a:lstStyle/>
          <a:p>
            <a:pPr indent="0" lvl="0" marL="0" marR="0" rtl="0" algn="l">
              <a:lnSpc>
                <a:spcPct val="200000"/>
              </a:lnSpc>
              <a:spcBef>
                <a:spcPts val="0"/>
              </a:spcBef>
              <a:spcAft>
                <a:spcPts val="0"/>
              </a:spcAft>
              <a:buNone/>
            </a:pPr>
            <a:r>
              <a:rPr b="0" i="0" lang="en-US" sz="3297" u="none" cap="none" strike="noStrike">
                <a:solidFill>
                  <a:srgbClr val="000000"/>
                </a:solidFill>
                <a:latin typeface="Times New Roman"/>
                <a:ea typeface="Times New Roman"/>
                <a:cs typeface="Times New Roman"/>
                <a:sym typeface="Times New Roman"/>
              </a:rPr>
              <a:t>Used for estimating the probability </a:t>
            </a:r>
            <a:endParaRPr/>
          </a:p>
          <a:p>
            <a:pPr indent="0" lvl="0" marL="0" marR="0" rtl="0" algn="l">
              <a:lnSpc>
                <a:spcPct val="200000"/>
              </a:lnSpc>
              <a:spcBef>
                <a:spcPts val="0"/>
              </a:spcBef>
              <a:spcAft>
                <a:spcPts val="0"/>
              </a:spcAft>
              <a:buNone/>
            </a:pPr>
            <a:r>
              <a:rPr b="0" i="0" lang="en-US" sz="3297" u="none" cap="none" strike="noStrike">
                <a:solidFill>
                  <a:srgbClr val="000000"/>
                </a:solidFill>
                <a:latin typeface="Times New Roman"/>
                <a:ea typeface="Times New Roman"/>
                <a:cs typeface="Times New Roman"/>
                <a:sym typeface="Times New Roman"/>
              </a:rPr>
              <a:t>of extreme deviations from the mean</a:t>
            </a:r>
            <a:endParaRPr/>
          </a:p>
          <a:p>
            <a:pPr indent="0" lvl="0" marL="0" marR="0" rtl="0" algn="l">
              <a:lnSpc>
                <a:spcPct val="200000"/>
              </a:lnSpc>
              <a:spcBef>
                <a:spcPts val="0"/>
              </a:spcBef>
              <a:spcAft>
                <a:spcPts val="0"/>
              </a:spcAft>
              <a:buNone/>
            </a:pPr>
            <a:r>
              <a:rPr b="0" i="0" lang="en-US" sz="3297" u="none" cap="none" strike="noStrike">
                <a:solidFill>
                  <a:srgbClr val="000000"/>
                </a:solidFill>
                <a:latin typeface="Times New Roman"/>
                <a:ea typeface="Times New Roman"/>
                <a:cs typeface="Times New Roman"/>
                <a:sym typeface="Times New Roman"/>
              </a:rPr>
              <a:t>Formula -</a:t>
            </a:r>
            <a:endParaRPr/>
          </a:p>
          <a:p>
            <a:pPr indent="0" lvl="0" marL="0" marR="0" rtl="0" algn="l">
              <a:lnSpc>
                <a:spcPct val="200000"/>
              </a:lnSpc>
              <a:spcBef>
                <a:spcPts val="0"/>
              </a:spcBef>
              <a:spcAft>
                <a:spcPts val="0"/>
              </a:spcAft>
              <a:buNone/>
            </a:pPr>
            <a:r>
              <a:rPr b="0" i="0" lang="en-US" sz="3297" u="none" cap="none" strike="noStrike">
                <a:solidFill>
                  <a:srgbClr val="000000"/>
                </a:solidFill>
                <a:latin typeface="Times New Roman"/>
                <a:ea typeface="Times New Roman"/>
                <a:cs typeface="Times New Roman"/>
                <a:sym typeface="Times New Roman"/>
              </a:rPr>
              <a:t>Used for variance based analysis</a:t>
            </a:r>
            <a:endParaRPr/>
          </a:p>
          <a:p>
            <a:pPr indent="0" lvl="0" marL="0" marR="0" rtl="0" algn="l">
              <a:lnSpc>
                <a:spcPct val="200000"/>
              </a:lnSpc>
              <a:spcBef>
                <a:spcPts val="0"/>
              </a:spcBef>
              <a:spcAft>
                <a:spcPts val="0"/>
              </a:spcAft>
              <a:buNone/>
            </a:pPr>
            <a:r>
              <a:t/>
            </a:r>
            <a:endParaRPr b="0" i="0" sz="3297" u="none" cap="none" strike="noStrike">
              <a:solidFill>
                <a:srgbClr val="000000"/>
              </a:solidFill>
              <a:latin typeface="Times New Roman"/>
              <a:ea typeface="Times New Roman"/>
              <a:cs typeface="Times New Roman"/>
              <a:sym typeface="Times New Roman"/>
            </a:endParaRPr>
          </a:p>
        </p:txBody>
      </p:sp>
      <p:pic>
        <p:nvPicPr>
          <p:cNvPr id="228" name="Google Shape;228;p26"/>
          <p:cNvPicPr preferRelativeResize="0"/>
          <p:nvPr/>
        </p:nvPicPr>
        <p:blipFill rotWithShape="1">
          <a:blip r:embed="rId5">
            <a:alphaModFix/>
          </a:blip>
          <a:srcRect b="0" l="0" r="0" t="0"/>
          <a:stretch/>
        </p:blipFill>
        <p:spPr>
          <a:xfrm>
            <a:off x="2441689" y="4580616"/>
            <a:ext cx="4257302" cy="1449179"/>
          </a:xfrm>
          <a:prstGeom prst="rect">
            <a:avLst/>
          </a:prstGeom>
          <a:noFill/>
          <a:ln>
            <a:noFill/>
          </a:ln>
        </p:spPr>
      </p:pic>
      <p:grpSp>
        <p:nvGrpSpPr>
          <p:cNvPr id="229" name="Google Shape;229;p26"/>
          <p:cNvGrpSpPr/>
          <p:nvPr/>
        </p:nvGrpSpPr>
        <p:grpSpPr>
          <a:xfrm>
            <a:off x="8938891" y="2367282"/>
            <a:ext cx="9733369" cy="3808665"/>
            <a:chOff x="0" y="-95250"/>
            <a:chExt cx="12977825" cy="5078219"/>
          </a:xfrm>
        </p:grpSpPr>
        <p:sp>
          <p:nvSpPr>
            <p:cNvPr id="230" name="Google Shape;230;p26"/>
            <p:cNvSpPr txBox="1"/>
            <p:nvPr/>
          </p:nvSpPr>
          <p:spPr>
            <a:xfrm>
              <a:off x="0" y="685446"/>
              <a:ext cx="10554879" cy="4297523"/>
            </a:xfrm>
            <a:prstGeom prst="rect">
              <a:avLst/>
            </a:prstGeom>
            <a:noFill/>
            <a:ln>
              <a:noFill/>
            </a:ln>
          </p:spPr>
          <p:txBody>
            <a:bodyPr anchorCtr="0" anchor="t" bIns="0" lIns="0" spcFirstLastPara="1" rIns="0" wrap="square" tIns="0">
              <a:spAutoFit/>
            </a:bodyPr>
            <a:lstStyle/>
            <a:p>
              <a:pPr indent="0" lvl="0" marL="0" marR="0" rtl="0" algn="l">
                <a:lnSpc>
                  <a:spcPct val="200000"/>
                </a:lnSpc>
                <a:spcBef>
                  <a:spcPts val="0"/>
                </a:spcBef>
                <a:spcAft>
                  <a:spcPts val="0"/>
                </a:spcAft>
                <a:buNone/>
              </a:pPr>
              <a:r>
                <a:rPr b="0" i="0" lang="en-US" sz="3315" u="none" cap="none" strike="noStrike">
                  <a:solidFill>
                    <a:srgbClr val="000000"/>
                  </a:solidFill>
                  <a:latin typeface="Times New Roman"/>
                  <a:ea typeface="Times New Roman"/>
                  <a:cs typeface="Times New Roman"/>
                  <a:sym typeface="Times New Roman"/>
                </a:rPr>
                <a:t>Handling uncertainty in students arrving at a bus stop</a:t>
              </a:r>
              <a:endParaRPr/>
            </a:p>
            <a:p>
              <a:pPr indent="0" lvl="0" marL="0" marR="0" rtl="0" algn="l">
                <a:lnSpc>
                  <a:spcPct val="200000"/>
                </a:lnSpc>
                <a:spcBef>
                  <a:spcPts val="0"/>
                </a:spcBef>
                <a:spcAft>
                  <a:spcPts val="0"/>
                </a:spcAft>
                <a:buNone/>
              </a:pPr>
              <a:r>
                <a:rPr b="0" i="0" lang="en-US" sz="3315" u="none" cap="none" strike="noStrike">
                  <a:solidFill>
                    <a:srgbClr val="000000"/>
                  </a:solidFill>
                  <a:latin typeface="Times New Roman"/>
                  <a:ea typeface="Times New Roman"/>
                  <a:cs typeface="Times New Roman"/>
                  <a:sym typeface="Times New Roman"/>
                </a:rPr>
                <a:t>Robust planning for bus capacity</a:t>
              </a:r>
              <a:endParaRPr/>
            </a:p>
            <a:p>
              <a:pPr indent="0" lvl="0" marL="0" marR="0" rtl="0" algn="l">
                <a:lnSpc>
                  <a:spcPct val="200000"/>
                </a:lnSpc>
                <a:spcBef>
                  <a:spcPts val="0"/>
                </a:spcBef>
                <a:spcAft>
                  <a:spcPts val="0"/>
                </a:spcAft>
                <a:buNone/>
              </a:pPr>
              <a:r>
                <a:rPr b="0" i="0" lang="en-US" sz="3315" u="none" cap="none" strike="noStrike">
                  <a:solidFill>
                    <a:srgbClr val="000000"/>
                  </a:solidFill>
                  <a:latin typeface="Times New Roman"/>
                  <a:ea typeface="Times New Roman"/>
                  <a:cs typeface="Times New Roman"/>
                  <a:sym typeface="Times New Roman"/>
                </a:rPr>
                <a:t>Gives worst-case bound on deviations</a:t>
              </a:r>
              <a:endParaRPr/>
            </a:p>
          </p:txBody>
        </p:sp>
        <p:sp>
          <p:nvSpPr>
            <p:cNvPr id="231" name="Google Shape;231;p26"/>
            <p:cNvSpPr txBox="1"/>
            <p:nvPr/>
          </p:nvSpPr>
          <p:spPr>
            <a:xfrm>
              <a:off x="0" y="-95250"/>
              <a:ext cx="12977825" cy="8013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3525" u="none" cap="none" strike="noStrike">
                  <a:solidFill>
                    <a:srgbClr val="000000"/>
                  </a:solidFill>
                  <a:latin typeface="Times"/>
                  <a:ea typeface="Times"/>
                  <a:cs typeface="Times"/>
                  <a:sym typeface="Times"/>
                </a:rPr>
                <a:t>SBRP application</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235" name="Shape 235"/>
        <p:cNvGrpSpPr/>
        <p:nvPr/>
      </p:nvGrpSpPr>
      <p:grpSpPr>
        <a:xfrm>
          <a:off x="0" y="0"/>
          <a:ext cx="0" cy="0"/>
          <a:chOff x="0" y="0"/>
          <a:chExt cx="0" cy="0"/>
        </a:xfrm>
      </p:grpSpPr>
      <p:sp>
        <p:nvSpPr>
          <p:cNvPr id="236" name="Google Shape;236;p27"/>
          <p:cNvSpPr/>
          <p:nvPr/>
        </p:nvSpPr>
        <p:spPr>
          <a:xfrm>
            <a:off x="0" y="10134600"/>
            <a:ext cx="18288000" cy="152400"/>
          </a:xfrm>
          <a:custGeom>
            <a:rect b="b" l="l" r="r" t="t"/>
            <a:pathLst>
              <a:path extrusionOk="0" h="203200" w="24384000">
                <a:moveTo>
                  <a:pt x="0" y="0"/>
                </a:moveTo>
                <a:lnTo>
                  <a:pt x="24384000" y="0"/>
                </a:lnTo>
                <a:lnTo>
                  <a:pt x="24384000" y="203200"/>
                </a:lnTo>
                <a:lnTo>
                  <a:pt x="0" y="203200"/>
                </a:lnTo>
                <a:lnTo>
                  <a:pt x="0" y="0"/>
                </a:lnTo>
                <a:close/>
              </a:path>
            </a:pathLst>
          </a:custGeom>
          <a:blipFill rotWithShape="1">
            <a:blip r:embed="rId3">
              <a:alphaModFix/>
            </a:blip>
            <a:stretch>
              <a:fillRect b="0" l="0" r="0" t="0"/>
            </a:stretch>
          </a:blipFill>
          <a:ln>
            <a:noFill/>
          </a:ln>
        </p:spPr>
      </p:sp>
      <p:sp>
        <p:nvSpPr>
          <p:cNvPr id="237" name="Google Shape;237;p27"/>
          <p:cNvSpPr/>
          <p:nvPr/>
        </p:nvSpPr>
        <p:spPr>
          <a:xfrm>
            <a:off x="538220" y="9058418"/>
            <a:ext cx="2048732" cy="898494"/>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4">
              <a:alphaModFix/>
            </a:blip>
            <a:stretch>
              <a:fillRect b="-164802" l="-72592" r="-72212" t="-164493"/>
            </a:stretch>
          </a:blipFill>
          <a:ln>
            <a:noFill/>
          </a:ln>
        </p:spPr>
      </p:sp>
      <p:sp>
        <p:nvSpPr>
          <p:cNvPr id="238" name="Google Shape;238;p27"/>
          <p:cNvSpPr txBox="1"/>
          <p:nvPr/>
        </p:nvSpPr>
        <p:spPr>
          <a:xfrm>
            <a:off x="4001750" y="647700"/>
            <a:ext cx="10284500" cy="838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6000" u="none" cap="none" strike="noStrike">
                <a:solidFill>
                  <a:srgbClr val="000000"/>
                </a:solidFill>
                <a:latin typeface="Times"/>
                <a:ea typeface="Times"/>
                <a:cs typeface="Times"/>
                <a:sym typeface="Times"/>
              </a:rPr>
              <a:t>Inferences: Domain perspective</a:t>
            </a:r>
            <a:endParaRPr/>
          </a:p>
        </p:txBody>
      </p:sp>
      <p:sp>
        <p:nvSpPr>
          <p:cNvPr id="239" name="Google Shape;239;p27"/>
          <p:cNvSpPr txBox="1"/>
          <p:nvPr/>
        </p:nvSpPr>
        <p:spPr>
          <a:xfrm>
            <a:off x="3333645" y="1632414"/>
            <a:ext cx="95250" cy="806306"/>
          </a:xfrm>
          <a:prstGeom prst="rect">
            <a:avLst/>
          </a:prstGeom>
          <a:noFill/>
          <a:ln>
            <a:noFill/>
          </a:ln>
        </p:spPr>
        <p:txBody>
          <a:bodyPr anchorCtr="0" anchor="t" bIns="0" lIns="0" spcFirstLastPara="1" rIns="0" wrap="square" tIns="0">
            <a:spAutoFit/>
          </a:bodyPr>
          <a:lstStyle/>
          <a:p>
            <a:pPr indent="0" lvl="0" marL="0" marR="0" rtl="0" algn="l">
              <a:lnSpc>
                <a:spcPct val="235911"/>
              </a:lnSpc>
              <a:spcBef>
                <a:spcPts val="0"/>
              </a:spcBef>
              <a:spcAft>
                <a:spcPts val="0"/>
              </a:spcAft>
              <a:buNone/>
            </a:pPr>
            <a:r>
              <a:rPr b="0" i="0" lang="en-US" sz="2999" u="none" cap="none" strike="noStrike">
                <a:solidFill>
                  <a:srgbClr val="000000"/>
                </a:solidFill>
                <a:latin typeface="Times New Roman"/>
                <a:ea typeface="Times New Roman"/>
                <a:cs typeface="Times New Roman"/>
                <a:sym typeface="Times New Roman"/>
              </a:rPr>
              <a:t> </a:t>
            </a:r>
            <a:endParaRPr/>
          </a:p>
        </p:txBody>
      </p:sp>
      <p:sp>
        <p:nvSpPr>
          <p:cNvPr id="240" name="Google Shape;240;p27"/>
          <p:cNvSpPr txBox="1"/>
          <p:nvPr/>
        </p:nvSpPr>
        <p:spPr>
          <a:xfrm>
            <a:off x="1028700" y="2343470"/>
            <a:ext cx="15124009" cy="3647636"/>
          </a:xfrm>
          <a:prstGeom prst="rect">
            <a:avLst/>
          </a:prstGeom>
          <a:noFill/>
          <a:ln>
            <a:noFill/>
          </a:ln>
        </p:spPr>
        <p:txBody>
          <a:bodyPr anchorCtr="0" anchor="t" bIns="0" lIns="0" spcFirstLastPara="1" rIns="0" wrap="square" tIns="0">
            <a:spAutoFit/>
          </a:bodyPr>
          <a:lstStyle/>
          <a:p>
            <a:pPr indent="-373659" lvl="1" marL="747317" marR="0" rtl="0" algn="l">
              <a:lnSpc>
                <a:spcPct val="139988"/>
              </a:lnSpc>
              <a:spcBef>
                <a:spcPts val="0"/>
              </a:spcBef>
              <a:spcAft>
                <a:spcPts val="0"/>
              </a:spcAft>
              <a:buClr>
                <a:srgbClr val="000000"/>
              </a:buClr>
              <a:buSzPts val="3461"/>
              <a:buFont typeface="Arial"/>
              <a:buChar char="•"/>
            </a:pPr>
            <a:r>
              <a:rPr b="0" i="0" lang="en-US" sz="3461" u="none" cap="none" strike="noStrike">
                <a:solidFill>
                  <a:srgbClr val="000000"/>
                </a:solidFill>
                <a:latin typeface="Times New Roman"/>
                <a:ea typeface="Times New Roman"/>
                <a:cs typeface="Times New Roman"/>
                <a:sym typeface="Times New Roman"/>
              </a:rPr>
              <a:t>Less total bus travel time so more convenience and on time students</a:t>
            </a:r>
            <a:endParaRPr/>
          </a:p>
          <a:p>
            <a:pPr indent="-373659" lvl="1" marL="747317" marR="0" rtl="0" algn="l">
              <a:lnSpc>
                <a:spcPct val="139988"/>
              </a:lnSpc>
              <a:spcBef>
                <a:spcPts val="0"/>
              </a:spcBef>
              <a:spcAft>
                <a:spcPts val="0"/>
              </a:spcAft>
              <a:buClr>
                <a:srgbClr val="000000"/>
              </a:buClr>
              <a:buSzPts val="3461"/>
              <a:buFont typeface="Arial"/>
              <a:buChar char="•"/>
            </a:pPr>
            <a:r>
              <a:rPr b="0" i="0" lang="en-US" sz="3461" u="none" cap="none" strike="noStrike">
                <a:solidFill>
                  <a:srgbClr val="000000"/>
                </a:solidFill>
                <a:latin typeface="Times New Roman"/>
                <a:ea typeface="Times New Roman"/>
                <a:cs typeface="Times New Roman"/>
                <a:sym typeface="Times New Roman"/>
              </a:rPr>
              <a:t>Improved optimization of fuel use so reduced operational costs</a:t>
            </a:r>
            <a:endParaRPr/>
          </a:p>
          <a:p>
            <a:pPr indent="-373659" lvl="1" marL="747317" marR="0" rtl="0" algn="l">
              <a:lnSpc>
                <a:spcPct val="139988"/>
              </a:lnSpc>
              <a:spcBef>
                <a:spcPts val="0"/>
              </a:spcBef>
              <a:spcAft>
                <a:spcPts val="0"/>
              </a:spcAft>
              <a:buClr>
                <a:srgbClr val="000000"/>
              </a:buClr>
              <a:buSzPts val="3461"/>
              <a:buFont typeface="Arial"/>
              <a:buChar char="•"/>
            </a:pPr>
            <a:r>
              <a:rPr b="0" i="0" lang="en-US" sz="3461" u="none" cap="none" strike="noStrike">
                <a:solidFill>
                  <a:srgbClr val="000000"/>
                </a:solidFill>
                <a:latin typeface="Times New Roman"/>
                <a:ea typeface="Times New Roman"/>
                <a:cs typeface="Times New Roman"/>
                <a:sym typeface="Times New Roman"/>
              </a:rPr>
              <a:t>Improved ability to adapt to real-world uncertainty</a:t>
            </a:r>
            <a:endParaRPr/>
          </a:p>
          <a:p>
            <a:pPr indent="-373659" lvl="1" marL="747317" marR="0" rtl="0" algn="l">
              <a:lnSpc>
                <a:spcPct val="139988"/>
              </a:lnSpc>
              <a:spcBef>
                <a:spcPts val="0"/>
              </a:spcBef>
              <a:spcAft>
                <a:spcPts val="0"/>
              </a:spcAft>
              <a:buClr>
                <a:srgbClr val="000000"/>
              </a:buClr>
              <a:buSzPts val="3461"/>
              <a:buFont typeface="Arial"/>
              <a:buChar char="•"/>
            </a:pPr>
            <a:r>
              <a:rPr b="0" i="0" lang="en-US" sz="3461" u="none" cap="none" strike="noStrike">
                <a:solidFill>
                  <a:srgbClr val="000000"/>
                </a:solidFill>
                <a:latin typeface="Times New Roman"/>
                <a:ea typeface="Times New Roman"/>
                <a:cs typeface="Times New Roman"/>
                <a:sym typeface="Times New Roman"/>
              </a:rPr>
              <a:t>Could be used with real ITS systems</a:t>
            </a:r>
            <a:endParaRPr/>
          </a:p>
          <a:p>
            <a:pPr indent="-373659" lvl="1" marL="747317" marR="0" rtl="0" algn="l">
              <a:lnSpc>
                <a:spcPct val="139988"/>
              </a:lnSpc>
              <a:spcBef>
                <a:spcPts val="0"/>
              </a:spcBef>
              <a:spcAft>
                <a:spcPts val="0"/>
              </a:spcAft>
              <a:buClr>
                <a:srgbClr val="000000"/>
              </a:buClr>
              <a:buSzPts val="3461"/>
              <a:buFont typeface="Arial"/>
              <a:buChar char="•"/>
            </a:pPr>
            <a:r>
              <a:rPr b="0" i="0" lang="en-US" sz="3461" u="none" cap="none" strike="noStrike">
                <a:solidFill>
                  <a:srgbClr val="000000"/>
                </a:solidFill>
                <a:latin typeface="Times New Roman"/>
                <a:ea typeface="Times New Roman"/>
                <a:cs typeface="Times New Roman"/>
                <a:sym typeface="Times New Roman"/>
              </a:rPr>
              <a:t>Improves student safety</a:t>
            </a:r>
            <a:endParaRPr/>
          </a:p>
          <a:p>
            <a:pPr indent="-373659" lvl="1" marL="747317" marR="0" rtl="0" algn="l">
              <a:lnSpc>
                <a:spcPct val="139988"/>
              </a:lnSpc>
              <a:spcBef>
                <a:spcPts val="0"/>
              </a:spcBef>
              <a:spcAft>
                <a:spcPts val="0"/>
              </a:spcAft>
              <a:buClr>
                <a:srgbClr val="000000"/>
              </a:buClr>
              <a:buSzPts val="3461"/>
              <a:buFont typeface="Arial"/>
              <a:buChar char="•"/>
            </a:pPr>
            <a:r>
              <a:rPr b="0" i="0" lang="en-US" sz="3461" u="none" cap="none" strike="noStrike">
                <a:solidFill>
                  <a:srgbClr val="000000"/>
                </a:solidFill>
                <a:latin typeface="Times New Roman"/>
                <a:ea typeface="Times New Roman"/>
                <a:cs typeface="Times New Roman"/>
                <a:sym typeface="Times New Roman"/>
              </a:rPr>
              <a:t>Scalable to larger transportation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244" name="Shape 244"/>
        <p:cNvGrpSpPr/>
        <p:nvPr/>
      </p:nvGrpSpPr>
      <p:grpSpPr>
        <a:xfrm>
          <a:off x="0" y="0"/>
          <a:ext cx="0" cy="0"/>
          <a:chOff x="0" y="0"/>
          <a:chExt cx="0" cy="0"/>
        </a:xfrm>
      </p:grpSpPr>
      <p:sp>
        <p:nvSpPr>
          <p:cNvPr id="245" name="Google Shape;245;p28"/>
          <p:cNvSpPr/>
          <p:nvPr/>
        </p:nvSpPr>
        <p:spPr>
          <a:xfrm>
            <a:off x="0" y="10134600"/>
            <a:ext cx="18288000" cy="152400"/>
          </a:xfrm>
          <a:custGeom>
            <a:rect b="b" l="l" r="r" t="t"/>
            <a:pathLst>
              <a:path extrusionOk="0" h="203200" w="24384000">
                <a:moveTo>
                  <a:pt x="0" y="0"/>
                </a:moveTo>
                <a:lnTo>
                  <a:pt x="24384000" y="0"/>
                </a:lnTo>
                <a:lnTo>
                  <a:pt x="24384000" y="203200"/>
                </a:lnTo>
                <a:lnTo>
                  <a:pt x="0" y="203200"/>
                </a:lnTo>
                <a:lnTo>
                  <a:pt x="0" y="0"/>
                </a:lnTo>
                <a:close/>
              </a:path>
            </a:pathLst>
          </a:custGeom>
          <a:blipFill rotWithShape="1">
            <a:blip r:embed="rId3">
              <a:alphaModFix/>
            </a:blip>
            <a:stretch>
              <a:fillRect b="0" l="0" r="0" t="0"/>
            </a:stretch>
          </a:blipFill>
          <a:ln>
            <a:noFill/>
          </a:ln>
        </p:spPr>
      </p:sp>
      <p:sp>
        <p:nvSpPr>
          <p:cNvPr id="246" name="Google Shape;246;p28"/>
          <p:cNvSpPr/>
          <p:nvPr/>
        </p:nvSpPr>
        <p:spPr>
          <a:xfrm>
            <a:off x="538220" y="9058418"/>
            <a:ext cx="2048732" cy="898494"/>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4">
              <a:alphaModFix/>
            </a:blip>
            <a:stretch>
              <a:fillRect b="-164802" l="-72592" r="-72212" t="-164493"/>
            </a:stretch>
          </a:blipFill>
          <a:ln>
            <a:noFill/>
          </a:ln>
        </p:spPr>
      </p:sp>
      <p:sp>
        <p:nvSpPr>
          <p:cNvPr id="247" name="Google Shape;247;p28"/>
          <p:cNvSpPr txBox="1"/>
          <p:nvPr/>
        </p:nvSpPr>
        <p:spPr>
          <a:xfrm>
            <a:off x="7915570" y="1819761"/>
            <a:ext cx="95250" cy="838324"/>
          </a:xfrm>
          <a:prstGeom prst="rect">
            <a:avLst/>
          </a:prstGeom>
          <a:noFill/>
          <a:ln>
            <a:noFill/>
          </a:ln>
        </p:spPr>
        <p:txBody>
          <a:bodyPr anchorCtr="0" anchor="t" bIns="0" lIns="0" spcFirstLastPara="1" rIns="0" wrap="square" tIns="0">
            <a:spAutoFit/>
          </a:bodyPr>
          <a:lstStyle/>
          <a:p>
            <a:pPr indent="0" lvl="0" marL="0" marR="0" rtl="0" algn="l">
              <a:lnSpc>
                <a:spcPct val="250016"/>
              </a:lnSpc>
              <a:spcBef>
                <a:spcPts val="0"/>
              </a:spcBef>
              <a:spcAft>
                <a:spcPts val="0"/>
              </a:spcAft>
              <a:buNone/>
            </a:pPr>
            <a:r>
              <a:rPr b="0" i="0" lang="en-US" sz="2999" u="none" cap="none" strike="noStrike">
                <a:solidFill>
                  <a:srgbClr val="000000"/>
                </a:solidFill>
                <a:latin typeface="Times New Roman"/>
                <a:ea typeface="Times New Roman"/>
                <a:cs typeface="Times New Roman"/>
                <a:sym typeface="Times New Roman"/>
              </a:rPr>
              <a:t> </a:t>
            </a:r>
            <a:endParaRPr/>
          </a:p>
        </p:txBody>
      </p:sp>
      <p:sp>
        <p:nvSpPr>
          <p:cNvPr id="248" name="Google Shape;248;p28"/>
          <p:cNvSpPr txBox="1"/>
          <p:nvPr/>
        </p:nvSpPr>
        <p:spPr>
          <a:xfrm>
            <a:off x="5163741" y="494911"/>
            <a:ext cx="7960519" cy="783679"/>
          </a:xfrm>
          <a:prstGeom prst="rect">
            <a:avLst/>
          </a:prstGeom>
          <a:noFill/>
          <a:ln>
            <a:noFill/>
          </a:ln>
        </p:spPr>
        <p:txBody>
          <a:bodyPr anchorCtr="0" anchor="t" bIns="0" lIns="0" spcFirstLastPara="1" rIns="0" wrap="square" tIns="0">
            <a:spAutoFit/>
          </a:bodyPr>
          <a:lstStyle/>
          <a:p>
            <a:pPr indent="0" lvl="0" marL="0" marR="0" rtl="0" algn="l">
              <a:lnSpc>
                <a:spcPct val="99894"/>
              </a:lnSpc>
              <a:spcBef>
                <a:spcPts val="0"/>
              </a:spcBef>
              <a:spcAft>
                <a:spcPts val="0"/>
              </a:spcAft>
              <a:buNone/>
            </a:pPr>
            <a:r>
              <a:rPr b="1" i="0" lang="en-US" sz="5700" u="none" cap="none" strike="noStrike">
                <a:solidFill>
                  <a:srgbClr val="000000"/>
                </a:solidFill>
                <a:latin typeface="Times"/>
                <a:ea typeface="Times"/>
                <a:cs typeface="Times"/>
                <a:sym typeface="Times"/>
              </a:rPr>
              <a:t>Inference: CS perspective</a:t>
            </a:r>
            <a:endParaRPr/>
          </a:p>
        </p:txBody>
      </p:sp>
      <p:sp>
        <p:nvSpPr>
          <p:cNvPr id="249" name="Google Shape;249;p28"/>
          <p:cNvSpPr txBox="1"/>
          <p:nvPr/>
        </p:nvSpPr>
        <p:spPr>
          <a:xfrm>
            <a:off x="1028700" y="1707744"/>
            <a:ext cx="16551374" cy="7023710"/>
          </a:xfrm>
          <a:prstGeom prst="rect">
            <a:avLst/>
          </a:prstGeom>
          <a:noFill/>
          <a:ln>
            <a:noFill/>
          </a:ln>
        </p:spPr>
        <p:txBody>
          <a:bodyPr anchorCtr="0" anchor="t" bIns="0" lIns="0" spcFirstLastPara="1" rIns="0" wrap="square" tIns="0">
            <a:spAutoFit/>
          </a:bodyPr>
          <a:lstStyle/>
          <a:p>
            <a:pPr indent="-388728" lvl="1" marL="777455" marR="0" rtl="0" algn="l">
              <a:lnSpc>
                <a:spcPct val="140027"/>
              </a:lnSpc>
              <a:spcBef>
                <a:spcPts val="0"/>
              </a:spcBef>
              <a:spcAft>
                <a:spcPts val="0"/>
              </a:spcAft>
              <a:buClr>
                <a:srgbClr val="000000"/>
              </a:buClr>
              <a:buSzPts val="3600"/>
              <a:buFont typeface="Arial"/>
              <a:buChar char="•"/>
            </a:pPr>
            <a:r>
              <a:rPr b="0" i="0" lang="en-US" sz="3600" u="none" cap="none" strike="noStrike">
                <a:solidFill>
                  <a:srgbClr val="000000"/>
                </a:solidFill>
                <a:latin typeface="Times New Roman"/>
                <a:ea typeface="Times New Roman"/>
                <a:cs typeface="Times New Roman"/>
                <a:sym typeface="Times New Roman"/>
              </a:rPr>
              <a:t>Deterministic algorithms (NN, Clarke-Wright) produce fixed routes but fail to handle uncertainty in demand and traffic</a:t>
            </a:r>
            <a:endParaRPr/>
          </a:p>
          <a:p>
            <a:pPr indent="-388728" lvl="1" marL="777455" marR="0" rtl="0" algn="l">
              <a:lnSpc>
                <a:spcPct val="140027"/>
              </a:lnSpc>
              <a:spcBef>
                <a:spcPts val="0"/>
              </a:spcBef>
              <a:spcAft>
                <a:spcPts val="0"/>
              </a:spcAft>
              <a:buClr>
                <a:srgbClr val="000000"/>
              </a:buClr>
              <a:buSzPts val="3600"/>
              <a:buFont typeface="Arial"/>
              <a:buChar char="•"/>
            </a:pPr>
            <a:r>
              <a:rPr b="0" i="0" lang="en-US" sz="3600" u="none" cap="none" strike="noStrike">
                <a:solidFill>
                  <a:srgbClr val="000000"/>
                </a:solidFill>
                <a:latin typeface="Times New Roman"/>
                <a:ea typeface="Times New Roman"/>
                <a:cs typeface="Times New Roman"/>
                <a:sym typeface="Times New Roman"/>
              </a:rPr>
              <a:t>Incorporating stochastic modeling (Poisson demand, Lognormal speed) results in more realistic system behavior</a:t>
            </a:r>
            <a:endParaRPr/>
          </a:p>
          <a:p>
            <a:pPr indent="-388728" lvl="1" marL="777455" marR="0" rtl="0" algn="l">
              <a:lnSpc>
                <a:spcPct val="140027"/>
              </a:lnSpc>
              <a:spcBef>
                <a:spcPts val="0"/>
              </a:spcBef>
              <a:spcAft>
                <a:spcPts val="0"/>
              </a:spcAft>
              <a:buClr>
                <a:srgbClr val="000000"/>
              </a:buClr>
              <a:buSzPts val="3600"/>
              <a:buFont typeface="Arial"/>
              <a:buChar char="•"/>
            </a:pPr>
            <a:r>
              <a:rPr b="0" i="0" lang="en-US" sz="3600" u="none" cap="none" strike="noStrike">
                <a:solidFill>
                  <a:srgbClr val="000000"/>
                </a:solidFill>
                <a:latin typeface="Times New Roman"/>
                <a:ea typeface="Times New Roman"/>
                <a:cs typeface="Times New Roman"/>
                <a:sym typeface="Times New Roman"/>
              </a:rPr>
              <a:t>Expected travel time E[T] is a better optimization objective than distance alone</a:t>
            </a:r>
            <a:endParaRPr/>
          </a:p>
          <a:p>
            <a:pPr indent="-388728" lvl="1" marL="777455" marR="0" rtl="0" algn="l">
              <a:lnSpc>
                <a:spcPct val="140027"/>
              </a:lnSpc>
              <a:spcBef>
                <a:spcPts val="0"/>
              </a:spcBef>
              <a:spcAft>
                <a:spcPts val="0"/>
              </a:spcAft>
              <a:buClr>
                <a:srgbClr val="000000"/>
              </a:buClr>
              <a:buSzPts val="3600"/>
              <a:buFont typeface="Arial"/>
              <a:buChar char="•"/>
            </a:pPr>
            <a:r>
              <a:rPr b="0" i="0" lang="en-US" sz="3600" u="none" cap="none" strike="noStrike">
                <a:solidFill>
                  <a:srgbClr val="000000"/>
                </a:solidFill>
                <a:latin typeface="Times New Roman"/>
                <a:ea typeface="Times New Roman"/>
                <a:cs typeface="Times New Roman"/>
                <a:sym typeface="Times New Roman"/>
              </a:rPr>
              <a:t>Estimation of Distribution Algorithm (EDA) learns route patterns and improves solution quality iteratively</a:t>
            </a:r>
            <a:endParaRPr/>
          </a:p>
          <a:p>
            <a:pPr indent="-388728" lvl="1" marL="777455" marR="0" rtl="0" algn="l">
              <a:lnSpc>
                <a:spcPct val="140027"/>
              </a:lnSpc>
              <a:spcBef>
                <a:spcPts val="0"/>
              </a:spcBef>
              <a:spcAft>
                <a:spcPts val="0"/>
              </a:spcAft>
              <a:buClr>
                <a:srgbClr val="000000"/>
              </a:buClr>
              <a:buSzPts val="3600"/>
              <a:buFont typeface="Arial"/>
              <a:buChar char="•"/>
            </a:pPr>
            <a:r>
              <a:rPr b="0" i="0" lang="en-US" sz="3600" u="none" cap="none" strike="noStrike">
                <a:solidFill>
                  <a:srgbClr val="000000"/>
                </a:solidFill>
                <a:latin typeface="Times New Roman"/>
                <a:ea typeface="Times New Roman"/>
                <a:cs typeface="Times New Roman"/>
                <a:sym typeface="Times New Roman"/>
              </a:rPr>
              <a:t>Monte Carlo simulation validates theoretical expectations using the Law of Large Numbers</a:t>
            </a:r>
            <a:endParaRPr/>
          </a:p>
          <a:p>
            <a:pPr indent="-388728" lvl="1" marL="777455" marR="0" rtl="0" algn="l">
              <a:lnSpc>
                <a:spcPct val="140027"/>
              </a:lnSpc>
              <a:spcBef>
                <a:spcPts val="0"/>
              </a:spcBef>
              <a:spcAft>
                <a:spcPts val="0"/>
              </a:spcAft>
              <a:buClr>
                <a:srgbClr val="000000"/>
              </a:buClr>
              <a:buSzPts val="3600"/>
              <a:buFont typeface="Arial"/>
              <a:buChar char="•"/>
            </a:pPr>
            <a:r>
              <a:rPr b="0" i="0" lang="en-US" sz="3600" u="none" cap="none" strike="noStrike">
                <a:solidFill>
                  <a:srgbClr val="000000"/>
                </a:solidFill>
                <a:latin typeface="Times New Roman"/>
                <a:ea typeface="Times New Roman"/>
                <a:cs typeface="Times New Roman"/>
                <a:sym typeface="Times New Roman"/>
              </a:rPr>
              <a:t>EDA outperforms deterministic approaches in larger and more complex instances</a:t>
            </a:r>
            <a:endParaRPr/>
          </a:p>
          <a:p>
            <a:pPr indent="-388728" lvl="1" marL="777455" marR="0" rtl="0" algn="l">
              <a:lnSpc>
                <a:spcPct val="140027"/>
              </a:lnSpc>
              <a:spcBef>
                <a:spcPts val="0"/>
              </a:spcBef>
              <a:spcAft>
                <a:spcPts val="0"/>
              </a:spcAft>
              <a:buClr>
                <a:srgbClr val="000000"/>
              </a:buClr>
              <a:buSzPts val="3600"/>
              <a:buFont typeface="Arial"/>
              <a:buChar char="•"/>
            </a:pPr>
            <a:r>
              <a:rPr b="0" i="0" lang="en-US" sz="3600" u="none" cap="none" strike="noStrike">
                <a:solidFill>
                  <a:srgbClr val="000000"/>
                </a:solidFill>
                <a:latin typeface="Times New Roman"/>
                <a:ea typeface="Times New Roman"/>
                <a:cs typeface="Times New Roman"/>
                <a:sym typeface="Times New Roman"/>
              </a:rPr>
              <a:t>Trade-off observed between computational cost and routing optimality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253" name="Shape 253"/>
        <p:cNvGrpSpPr/>
        <p:nvPr/>
      </p:nvGrpSpPr>
      <p:grpSpPr>
        <a:xfrm>
          <a:off x="0" y="0"/>
          <a:ext cx="0" cy="0"/>
          <a:chOff x="0" y="0"/>
          <a:chExt cx="0" cy="0"/>
        </a:xfrm>
      </p:grpSpPr>
      <p:sp>
        <p:nvSpPr>
          <p:cNvPr id="254" name="Google Shape;254;p29"/>
          <p:cNvSpPr txBox="1"/>
          <p:nvPr/>
        </p:nvSpPr>
        <p:spPr>
          <a:xfrm>
            <a:off x="1663950" y="3429000"/>
            <a:ext cx="14960100" cy="2440800"/>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None/>
            </a:pPr>
            <a:r>
              <a:rPr b="1" i="0" lang="en-US" sz="15858" u="none" cap="none" strike="noStrike">
                <a:solidFill>
                  <a:srgbClr val="000000"/>
                </a:solidFill>
                <a:latin typeface="Times"/>
                <a:ea typeface="Times"/>
                <a:cs typeface="Times"/>
                <a:sym typeface="Times"/>
              </a:rPr>
              <a:t>THANK YOU !</a:t>
            </a:r>
            <a:endParaRPr/>
          </a:p>
        </p:txBody>
      </p:sp>
      <p:sp>
        <p:nvSpPr>
          <p:cNvPr id="255" name="Google Shape;255;p29"/>
          <p:cNvSpPr/>
          <p:nvPr/>
        </p:nvSpPr>
        <p:spPr>
          <a:xfrm>
            <a:off x="0" y="10134600"/>
            <a:ext cx="18288000" cy="152400"/>
          </a:xfrm>
          <a:custGeom>
            <a:rect b="b" l="l" r="r" t="t"/>
            <a:pathLst>
              <a:path extrusionOk="0" h="203200" w="24384000">
                <a:moveTo>
                  <a:pt x="0" y="0"/>
                </a:moveTo>
                <a:lnTo>
                  <a:pt x="24384000" y="0"/>
                </a:lnTo>
                <a:lnTo>
                  <a:pt x="24384000" y="203200"/>
                </a:lnTo>
                <a:lnTo>
                  <a:pt x="0" y="203200"/>
                </a:lnTo>
                <a:lnTo>
                  <a:pt x="0" y="0"/>
                </a:lnTo>
                <a:close/>
              </a:path>
            </a:pathLst>
          </a:custGeom>
          <a:blipFill rotWithShape="1">
            <a:blip r:embed="rId3">
              <a:alphaModFix/>
            </a:blip>
            <a:stretch>
              <a:fillRect b="0" l="0" r="0" t="0"/>
            </a:stretch>
          </a:blipFill>
          <a:ln>
            <a:noFill/>
          </a:ln>
        </p:spPr>
      </p:sp>
      <p:sp>
        <p:nvSpPr>
          <p:cNvPr id="256" name="Google Shape;256;p29"/>
          <p:cNvSpPr/>
          <p:nvPr/>
        </p:nvSpPr>
        <p:spPr>
          <a:xfrm>
            <a:off x="538220" y="9058418"/>
            <a:ext cx="2048732" cy="898494"/>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4">
              <a:alphaModFix/>
            </a:blip>
            <a:stretch>
              <a:fillRect b="-164802" l="-72592" r="-72212" t="-164493"/>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