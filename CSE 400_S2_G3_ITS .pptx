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Helvetica World Bold" charset="1" panose="020B0800040000020004"/>
      <p:regular r:id="rId20"/>
    </p:embeddedFont>
    <p:embeddedFont>
      <p:font typeface="Helvetica World Bold Italics" charset="1" panose="020B0800040000090004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jpeg" Type="http://schemas.openxmlformats.org/officeDocument/2006/relationships/image"/><Relationship Id="rId5" Target="https://www.canva.com/design/DAHAXRTEhhc/0qcWjw4GbOzgnPXuADAdbA/edit" TargetMode="External" Type="http://schemas.openxmlformats.org/officeDocument/2006/relationships/hyperlink"/><Relationship Id="rId6" Target="https://www.canva.com/design/DAHAXRTEhhc/0qcWjw4GbOzgnPXuADAdbA/edi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46422" y="1127274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54" t="-264873" r="-89106" b="-26540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436069" y="3424995"/>
            <a:ext cx="8390695" cy="5590301"/>
          </a:xfrm>
          <a:custGeom>
            <a:avLst/>
            <a:gdLst/>
            <a:ahLst/>
            <a:cxnLst/>
            <a:rect r="r" b="b" t="t" l="l"/>
            <a:pathLst>
              <a:path h="5590301" w="8390695">
                <a:moveTo>
                  <a:pt x="0" y="0"/>
                </a:moveTo>
                <a:lnTo>
                  <a:pt x="8390696" y="0"/>
                </a:lnTo>
                <a:lnTo>
                  <a:pt x="8390696" y="5590301"/>
                </a:lnTo>
                <a:lnTo>
                  <a:pt x="0" y="559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7361" y="7770447"/>
            <a:ext cx="826590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Made by:</a:t>
            </a:r>
          </a:p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Saumya Shah(AU2440274) &amp;</a:t>
            </a:r>
          </a:p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Pratyusha Sharma (AU2440012)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361" y="1012974"/>
            <a:ext cx="9007994" cy="450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Probability model to solve the school bus routing problem with stops selection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4310" y="-333716"/>
            <a:ext cx="15445797" cy="2647890"/>
            <a:chOff x="0" y="0"/>
            <a:chExt cx="20594396" cy="3530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94400" cy="3530517"/>
            </a:xfrm>
            <a:custGeom>
              <a:avLst/>
              <a:gdLst/>
              <a:ahLst/>
              <a:cxnLst/>
              <a:rect r="r" b="b" t="t" l="l"/>
              <a:pathLst>
                <a:path h="3530517" w="20594400">
                  <a:moveTo>
                    <a:pt x="0" y="0"/>
                  </a:moveTo>
                  <a:lnTo>
                    <a:pt x="20594400" y="0"/>
                  </a:lnTo>
                  <a:lnTo>
                    <a:pt x="20594400" y="3530517"/>
                  </a:lnTo>
                  <a:lnTo>
                    <a:pt x="0" y="35305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08" r="0" b="-496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594396" cy="3644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Context and Motivation</a:t>
              </a:r>
            </a:p>
            <a:p>
              <a:pPr algn="l">
                <a:lnSpc>
                  <a:spcPts val="82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0" y="1019175"/>
            <a:ext cx="16617339" cy="704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 Domain: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Intelligent Transportation System (ITS) [school bus - routing]</a:t>
            </a:r>
          </a:p>
          <a:p>
            <a:pPr algn="l" marL="859889" indent="-429945" lvl="1">
              <a:lnSpc>
                <a:spcPts val="4853"/>
              </a:lnSpc>
            </a:pPr>
          </a:p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Real-World Context</a:t>
            </a: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 transport with changing stops and constrsints</a:t>
            </a:r>
          </a:p>
          <a:p>
            <a:pPr algn="l">
              <a:lnSpc>
                <a:spcPts val="4853"/>
              </a:lnSpc>
            </a:pPr>
          </a:p>
          <a:p>
            <a:pPr algn="l" marL="759383" indent="-379691" lvl="1">
              <a:lnSpc>
                <a:spcPts val="4853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Reason for uncertainty: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Combinational routing choices and interacting constraints</a:t>
            </a:r>
          </a:p>
          <a:p>
            <a:pPr algn="l">
              <a:lnSpc>
                <a:spcPts val="3587"/>
              </a:lnSpc>
            </a:pPr>
            <a:r>
              <a:rPr lang="en-US" b="true" sz="2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</a:t>
            </a:r>
          </a:p>
          <a:p>
            <a:pPr algn="l">
              <a:lnSpc>
                <a:spcPts val="3587"/>
              </a:lnSpc>
            </a:pPr>
          </a:p>
          <a:p>
            <a:pPr algn="l" marL="2608150" indent="-869383" lvl="2">
              <a:lnSpc>
                <a:spcPts val="4159"/>
              </a:lnSpc>
            </a:pPr>
          </a:p>
          <a:p>
            <a:pPr algn="l" marL="2608150" indent="-869383" lvl="2">
              <a:lnSpc>
                <a:spcPts val="4783"/>
              </a:lnSpc>
            </a:pPr>
          </a:p>
          <a:p>
            <a:pPr algn="l" marL="2608150" indent="-869383" lvl="2">
              <a:lnSpc>
                <a:spcPts val="8318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96558" y="6442748"/>
            <a:ext cx="3697705" cy="1566221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1645069" y="5270556"/>
            <a:ext cx="6359631" cy="4237104"/>
          </a:xfrm>
          <a:custGeom>
            <a:avLst/>
            <a:gdLst/>
            <a:ahLst/>
            <a:cxnLst/>
            <a:rect r="r" b="b" t="t" l="l"/>
            <a:pathLst>
              <a:path h="4237104" w="6359631">
                <a:moveTo>
                  <a:pt x="0" y="0"/>
                </a:moveTo>
                <a:lnTo>
                  <a:pt x="6359631" y="0"/>
                </a:lnTo>
                <a:lnTo>
                  <a:pt x="6359631" y="4237104"/>
                </a:lnTo>
                <a:lnTo>
                  <a:pt x="0" y="42371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64603" y="5270556"/>
            <a:ext cx="6094697" cy="4156460"/>
          </a:xfrm>
          <a:custGeom>
            <a:avLst/>
            <a:gdLst/>
            <a:ahLst/>
            <a:cxnLst/>
            <a:rect r="r" b="b" t="t" l="l"/>
            <a:pathLst>
              <a:path h="4156460" w="6094697">
                <a:moveTo>
                  <a:pt x="0" y="0"/>
                </a:moveTo>
                <a:lnTo>
                  <a:pt x="6094697" y="0"/>
                </a:lnTo>
                <a:lnTo>
                  <a:pt x="6094697" y="4156460"/>
                </a:lnTo>
                <a:lnTo>
                  <a:pt x="0" y="41564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097" b="-17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8220" y="-295245"/>
            <a:ext cx="15445797" cy="2647890"/>
            <a:chOff x="0" y="0"/>
            <a:chExt cx="20594396" cy="3530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94400" cy="3530517"/>
            </a:xfrm>
            <a:custGeom>
              <a:avLst/>
              <a:gdLst/>
              <a:ahLst/>
              <a:cxnLst/>
              <a:rect r="r" b="b" t="t" l="l"/>
              <a:pathLst>
                <a:path h="3530517" w="20594400">
                  <a:moveTo>
                    <a:pt x="0" y="0"/>
                  </a:moveTo>
                  <a:lnTo>
                    <a:pt x="20594400" y="0"/>
                  </a:lnTo>
                  <a:lnTo>
                    <a:pt x="20594400" y="3530517"/>
                  </a:lnTo>
                  <a:lnTo>
                    <a:pt x="0" y="35305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08" r="0" b="-4961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594396" cy="3644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Objective and Scope</a:t>
              </a:r>
            </a:p>
            <a:p>
              <a:pPr algn="l">
                <a:lnSpc>
                  <a:spcPts val="828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65669" y="2230798"/>
            <a:ext cx="8871071" cy="6589947"/>
            <a:chOff x="0" y="0"/>
            <a:chExt cx="11828094" cy="87865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28145" cy="8786622"/>
            </a:xfrm>
            <a:custGeom>
              <a:avLst/>
              <a:gdLst/>
              <a:ahLst/>
              <a:cxnLst/>
              <a:rect r="r" b="b" t="t" l="l"/>
              <a:pathLst>
                <a:path h="8786622" w="11828145">
                  <a:moveTo>
                    <a:pt x="0" y="0"/>
                  </a:moveTo>
                  <a:lnTo>
                    <a:pt x="11828145" y="0"/>
                  </a:lnTo>
                  <a:lnTo>
                    <a:pt x="11828145" y="8786622"/>
                  </a:lnTo>
                  <a:lnTo>
                    <a:pt x="0" y="8786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49" t="0" r="-5749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94176" y="1319956"/>
            <a:ext cx="8073057" cy="483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Exact </a:t>
            </a: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Objective:</a:t>
            </a:r>
          </a:p>
          <a:p>
            <a:pPr algn="l" marL="755651" indent="-377825" lvl="1">
              <a:lnSpc>
                <a:spcPts val="483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Minimize expected travel time ofall school buses</a:t>
            </a:r>
          </a:p>
          <a:p>
            <a:pPr algn="l">
              <a:lnSpc>
                <a:spcPts val="3588"/>
              </a:lnSpc>
            </a:pPr>
          </a:p>
          <a:p>
            <a:pPr algn="l" marL="2708910" indent="-902970" lvl="2">
              <a:lnSpc>
                <a:spcPts val="4967"/>
              </a:lnSpc>
            </a:pPr>
          </a:p>
          <a:p>
            <a:pPr algn="l" marL="2708910" indent="-902970" lvl="2">
              <a:lnSpc>
                <a:spcPts val="4967"/>
              </a:lnSpc>
            </a:pPr>
          </a:p>
          <a:p>
            <a:pPr algn="l" marL="2708910" indent="-902970" lvl="2">
              <a:lnSpc>
                <a:spcPts val="4967"/>
              </a:lnSpc>
            </a:pPr>
          </a:p>
          <a:p>
            <a:pPr algn="l" marL="2708910" indent="-902970" lvl="2">
              <a:lnSpc>
                <a:spcPts val="496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4176" y="3723307"/>
            <a:ext cx="7722899" cy="496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Decision Task</a:t>
            </a: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l" marL="755651" indent="-377825" lvl="1">
              <a:lnSpc>
                <a:spcPts val="483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Select stops, asign students and sequence routes</a:t>
            </a:r>
          </a:p>
          <a:p>
            <a:pPr algn="l">
              <a:lnSpc>
                <a:spcPts val="4830"/>
              </a:lnSpc>
              <a:spcBef>
                <a:spcPct val="0"/>
              </a:spcBef>
            </a:pPr>
          </a:p>
          <a:p>
            <a:pPr algn="l">
              <a:lnSpc>
                <a:spcPts val="483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Scope: </a:t>
            </a:r>
          </a:p>
          <a:p>
            <a:pPr algn="l" marL="755651" indent="-377825" lvl="1">
              <a:lnSpc>
                <a:spcPts val="483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Static probabilistic road network</a:t>
            </a:r>
          </a:p>
          <a:p>
            <a:pPr algn="l">
              <a:lnSpc>
                <a:spcPts val="4830"/>
              </a:lnSpc>
              <a:spcBef>
                <a:spcPct val="0"/>
              </a:spcBef>
            </a:pPr>
          </a:p>
          <a:p>
            <a:pPr algn="l">
              <a:lnSpc>
                <a:spcPts val="48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11798" y="2389537"/>
            <a:ext cx="4453052" cy="5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Input data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25088" y="57686"/>
            <a:ext cx="15445797" cy="2647890"/>
            <a:chOff x="0" y="0"/>
            <a:chExt cx="20594396" cy="35305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594400" cy="3530517"/>
            </a:xfrm>
            <a:custGeom>
              <a:avLst/>
              <a:gdLst/>
              <a:ahLst/>
              <a:cxnLst/>
              <a:rect r="r" b="b" t="t" l="l"/>
              <a:pathLst>
                <a:path h="3530517" w="20594400">
                  <a:moveTo>
                    <a:pt x="0" y="0"/>
                  </a:moveTo>
                  <a:lnTo>
                    <a:pt x="20594400" y="0"/>
                  </a:lnTo>
                  <a:lnTo>
                    <a:pt x="20594400" y="3530517"/>
                  </a:lnTo>
                  <a:lnTo>
                    <a:pt x="0" y="35305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7708" r="0" b="-496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20594396" cy="3644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System Overview </a:t>
              </a:r>
            </a:p>
            <a:p>
              <a:pPr algn="l">
                <a:lnSpc>
                  <a:spcPts val="82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6767710" y="2818004"/>
            <a:ext cx="1692609" cy="6147"/>
          </a:xfrm>
          <a:prstGeom prst="line">
            <a:avLst/>
          </a:prstGeom>
          <a:ln cap="rnd" w="85725">
            <a:solidFill>
              <a:srgbClr val="0000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4707481" y="2456028"/>
            <a:ext cx="2906533" cy="5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Allocation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28878" y="2456028"/>
            <a:ext cx="4669498" cy="5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probabilistic routing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84714" y="2498891"/>
            <a:ext cx="3808200" cy="5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278378" y="1828264"/>
            <a:ext cx="16617339" cy="704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Pipeline</a:t>
            </a: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>
              <a:lnSpc>
                <a:spcPts val="4853"/>
              </a:lnSpc>
            </a:pPr>
          </a:p>
          <a:p>
            <a:pPr algn="l">
              <a:lnSpc>
                <a:spcPts val="4853"/>
              </a:lnSpc>
            </a:pPr>
          </a:p>
          <a:p>
            <a:pPr algn="l">
              <a:lnSpc>
                <a:spcPts val="4220"/>
              </a:lnSpc>
            </a:pPr>
          </a:p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Components</a:t>
            </a: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Student-stop assignment,EDA- based routing</a:t>
            </a:r>
          </a:p>
          <a:p>
            <a:pPr algn="l">
              <a:lnSpc>
                <a:spcPts val="4853"/>
              </a:lnSpc>
            </a:pPr>
          </a:p>
          <a:p>
            <a:pPr algn="l" marL="759383" indent="-379691" lvl="1">
              <a:lnSpc>
                <a:spcPts val="4853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Flow: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Fitness guides probability updates</a:t>
            </a:r>
          </a:p>
          <a:p>
            <a:pPr algn="l">
              <a:lnSpc>
                <a:spcPts val="3587"/>
              </a:lnSpc>
            </a:pPr>
            <a:r>
              <a:rPr lang="en-US" b="true" sz="2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</a:t>
            </a:r>
          </a:p>
          <a:p>
            <a:pPr algn="l">
              <a:lnSpc>
                <a:spcPts val="3587"/>
              </a:lnSpc>
            </a:pPr>
          </a:p>
          <a:p>
            <a:pPr algn="l" marL="2608150" indent="-869383" lvl="2">
              <a:lnSpc>
                <a:spcPts val="4159"/>
              </a:lnSpc>
            </a:pPr>
          </a:p>
          <a:p>
            <a:pPr algn="l" marL="2608150" indent="-869383" lvl="2">
              <a:lnSpc>
                <a:spcPts val="4783"/>
              </a:lnSpc>
            </a:pPr>
          </a:p>
          <a:p>
            <a:pPr algn="l" marL="2608150" indent="-869383" lvl="2">
              <a:lnSpc>
                <a:spcPts val="8318"/>
              </a:lnSpc>
            </a:pPr>
          </a:p>
        </p:txBody>
      </p:sp>
      <p:sp>
        <p:nvSpPr>
          <p:cNvPr name="AutoShape 22" id="22"/>
          <p:cNvSpPr/>
          <p:nvPr/>
        </p:nvSpPr>
        <p:spPr>
          <a:xfrm flipV="true">
            <a:off x="2767066" y="2814930"/>
            <a:ext cx="1692609" cy="6147"/>
          </a:xfrm>
          <a:prstGeom prst="line">
            <a:avLst/>
          </a:prstGeom>
          <a:ln cap="rnd" w="85725">
            <a:solidFill>
              <a:srgbClr val="0000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13020474" y="2821078"/>
            <a:ext cx="1692609" cy="6147"/>
          </a:xfrm>
          <a:prstGeom prst="line">
            <a:avLst/>
          </a:prstGeom>
          <a:ln cap="rnd" w="85725">
            <a:solidFill>
              <a:srgbClr val="0000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3898078" y="6045409"/>
            <a:ext cx="8635174" cy="4089191"/>
          </a:xfrm>
          <a:custGeom>
            <a:avLst/>
            <a:gdLst/>
            <a:ahLst/>
            <a:cxnLst/>
            <a:rect r="r" b="b" t="t" l="l"/>
            <a:pathLst>
              <a:path h="4089191" w="8635174">
                <a:moveTo>
                  <a:pt x="0" y="0"/>
                </a:moveTo>
                <a:lnTo>
                  <a:pt x="8635174" y="0"/>
                </a:lnTo>
                <a:lnTo>
                  <a:pt x="8635174" y="4089191"/>
                </a:lnTo>
                <a:lnTo>
                  <a:pt x="0" y="4089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390" r="0" b="-2039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126562" y="4600434"/>
            <a:ext cx="3808200" cy="116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Probability Modeling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84714" y="7515075"/>
            <a:ext cx="3808200" cy="57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7"/>
              </a:lnSpc>
            </a:pPr>
            <a:r>
              <a:rPr lang="en-US" b="true" sz="3099" i="true">
                <a:solidFill>
                  <a:srgbClr val="000000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Sampling</a:t>
            </a:r>
          </a:p>
        </p:txBody>
      </p:sp>
      <p:sp>
        <p:nvSpPr>
          <p:cNvPr name="AutoShape 27" id="27"/>
          <p:cNvSpPr/>
          <p:nvPr/>
        </p:nvSpPr>
        <p:spPr>
          <a:xfrm flipH="true">
            <a:off x="16044840" y="2965863"/>
            <a:ext cx="55159" cy="1691721"/>
          </a:xfrm>
          <a:prstGeom prst="line">
            <a:avLst/>
          </a:prstGeom>
          <a:ln cap="rnd" w="85725">
            <a:solidFill>
              <a:srgbClr val="0000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16002000" y="5758349"/>
            <a:ext cx="55159" cy="1691721"/>
          </a:xfrm>
          <a:prstGeom prst="line">
            <a:avLst/>
          </a:prstGeom>
          <a:ln cap="rnd" w="85725">
            <a:solidFill>
              <a:srgbClr val="0000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2985" y="0"/>
            <a:ext cx="15010200" cy="1271254"/>
            <a:chOff x="0" y="0"/>
            <a:chExt cx="20013600" cy="1695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13600" cy="1695000"/>
            </a:xfrm>
            <a:custGeom>
              <a:avLst/>
              <a:gdLst/>
              <a:ahLst/>
              <a:cxnLst/>
              <a:rect r="r" b="b" t="t" l="l"/>
              <a:pathLst>
                <a:path h="1695000" w="20013600">
                  <a:moveTo>
                    <a:pt x="0" y="0"/>
                  </a:moveTo>
                  <a:lnTo>
                    <a:pt x="20013600" y="0"/>
                  </a:lnTo>
                  <a:lnTo>
                    <a:pt x="20013600" y="1695000"/>
                  </a:lnTo>
                  <a:lnTo>
                    <a:pt x="0" y="169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068" r="0" b="-1800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013600" cy="180930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Source of Uncertainty in the Project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261729"/>
            <a:ext cx="16617339" cy="590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Measurement Uncertainty</a:t>
            </a: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Approximate student and stop locations</a:t>
            </a:r>
          </a:p>
          <a:p>
            <a:pPr algn="l" marL="859889" indent="-429945" lvl="1">
              <a:lnSpc>
                <a:spcPts val="4853"/>
              </a:lnSpc>
            </a:pPr>
          </a:p>
          <a:p>
            <a:pPr algn="l" marL="859889" indent="-429945" lvl="1">
              <a:lnSpc>
                <a:spcPts val="4220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Contextual Variability</a:t>
            </a: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Changing student distributions and constraints</a:t>
            </a:r>
          </a:p>
          <a:p>
            <a:pPr algn="l">
              <a:lnSpc>
                <a:spcPts val="4853"/>
              </a:lnSpc>
            </a:pPr>
          </a:p>
          <a:p>
            <a:pPr algn="l" marL="759383" indent="-379691" lvl="1">
              <a:lnSpc>
                <a:spcPts val="4853"/>
              </a:lnSpc>
              <a:buFont typeface="Arial"/>
              <a:buChar char="•"/>
            </a:pPr>
            <a:r>
              <a:rPr lang="en-US" b="true" sz="3517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Modeling Uncertainty: </a:t>
            </a:r>
            <a:r>
              <a:rPr lang="en-US" sz="35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Multiple valid route permutations</a:t>
            </a:r>
          </a:p>
          <a:p>
            <a:pPr algn="l">
              <a:lnSpc>
                <a:spcPts val="3587"/>
              </a:lnSpc>
            </a:pPr>
            <a:r>
              <a:rPr lang="en-US" b="true" sz="25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</a:t>
            </a:r>
          </a:p>
          <a:p>
            <a:pPr algn="l">
              <a:lnSpc>
                <a:spcPts val="3587"/>
              </a:lnSpc>
            </a:pPr>
          </a:p>
          <a:p>
            <a:pPr algn="l" marL="2608150" indent="-869383" lvl="2">
              <a:lnSpc>
                <a:spcPts val="4159"/>
              </a:lnSpc>
            </a:pPr>
          </a:p>
          <a:p>
            <a:pPr algn="l" marL="2608150" indent="-869383" lvl="2">
              <a:lnSpc>
                <a:spcPts val="4783"/>
              </a:lnSpc>
            </a:pPr>
          </a:p>
          <a:p>
            <a:pPr algn="l" marL="2608150" indent="-869383" lvl="2">
              <a:lnSpc>
                <a:spcPts val="8318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694485" y="4402150"/>
            <a:ext cx="7961874" cy="5307916"/>
          </a:xfrm>
          <a:custGeom>
            <a:avLst/>
            <a:gdLst/>
            <a:ahLst/>
            <a:cxnLst/>
            <a:rect r="r" b="b" t="t" l="l"/>
            <a:pathLst>
              <a:path h="5307916" w="7961874">
                <a:moveTo>
                  <a:pt x="0" y="0"/>
                </a:moveTo>
                <a:lnTo>
                  <a:pt x="7961874" y="0"/>
                </a:lnTo>
                <a:lnTo>
                  <a:pt x="7961874" y="5307916"/>
                </a:lnTo>
                <a:lnTo>
                  <a:pt x="0" y="5307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2985" y="0"/>
            <a:ext cx="15010200" cy="1271254"/>
            <a:chOff x="0" y="0"/>
            <a:chExt cx="20013600" cy="1695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13600" cy="1695000"/>
            </a:xfrm>
            <a:custGeom>
              <a:avLst/>
              <a:gdLst/>
              <a:ahLst/>
              <a:cxnLst/>
              <a:rect r="r" b="b" t="t" l="l"/>
              <a:pathLst>
                <a:path h="1695000" w="20013600">
                  <a:moveTo>
                    <a:pt x="0" y="0"/>
                  </a:moveTo>
                  <a:lnTo>
                    <a:pt x="20013600" y="0"/>
                  </a:lnTo>
                  <a:lnTo>
                    <a:pt x="20013600" y="1695000"/>
                  </a:lnTo>
                  <a:lnTo>
                    <a:pt x="0" y="169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068" r="0" b="-1800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013600" cy="180930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Random Variables and Their Roles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261729"/>
            <a:ext cx="16617339" cy="679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3452" indent="-476726" lvl="1">
              <a:lnSpc>
                <a:spcPts val="4680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Primary Random variable</a:t>
            </a:r>
            <a:r>
              <a:rPr lang="en-US" b="true" sz="3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39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Positions of bus stops in route permutations</a:t>
            </a:r>
          </a:p>
          <a:p>
            <a:pPr algn="l" marL="953452" indent="-476726" lvl="1">
              <a:lnSpc>
                <a:spcPts val="5381"/>
              </a:lnSpc>
            </a:pPr>
          </a:p>
          <a:p>
            <a:pPr algn="l" marL="953452" indent="-476726" lvl="1">
              <a:lnSpc>
                <a:spcPts val="4680"/>
              </a:lnSpc>
              <a:buFont typeface="Arial"/>
              <a:buChar char="•"/>
            </a:pPr>
            <a:r>
              <a:rPr lang="en-US" b="true" sz="3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Representation</a:t>
            </a:r>
            <a:r>
              <a:rPr lang="en-US" b="true" sz="3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39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Probability of assigning a stop toa route problem</a:t>
            </a:r>
          </a:p>
          <a:p>
            <a:pPr algn="l">
              <a:lnSpc>
                <a:spcPts val="5381"/>
              </a:lnSpc>
            </a:pPr>
          </a:p>
          <a:p>
            <a:pPr algn="l">
              <a:lnSpc>
                <a:spcPts val="5381"/>
              </a:lnSpc>
            </a:pPr>
            <a:r>
              <a:rPr lang="en-US" b="true" sz="39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</a:t>
            </a:r>
          </a:p>
          <a:p>
            <a:pPr algn="l">
              <a:lnSpc>
                <a:spcPts val="5381"/>
              </a:lnSpc>
            </a:pPr>
          </a:p>
          <a:p>
            <a:pPr algn="l" marL="2934652" indent="-978218" lvl="2">
              <a:lnSpc>
                <a:spcPts val="4680"/>
              </a:lnSpc>
            </a:pPr>
          </a:p>
          <a:p>
            <a:pPr algn="l" marL="2934652" indent="-978218" lvl="2">
              <a:lnSpc>
                <a:spcPts val="5381"/>
              </a:lnSpc>
            </a:pPr>
          </a:p>
          <a:p>
            <a:pPr algn="l" marL="2934652" indent="-978218" lvl="2">
              <a:lnSpc>
                <a:spcPts val="936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62985" y="0"/>
            <a:ext cx="15010200" cy="1271254"/>
            <a:chOff x="0" y="0"/>
            <a:chExt cx="20013600" cy="1695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13600" cy="1695000"/>
            </a:xfrm>
            <a:custGeom>
              <a:avLst/>
              <a:gdLst/>
              <a:ahLst/>
              <a:cxnLst/>
              <a:rect r="r" b="b" t="t" l="l"/>
              <a:pathLst>
                <a:path h="1695000" w="20013600">
                  <a:moveTo>
                    <a:pt x="0" y="0"/>
                  </a:moveTo>
                  <a:lnTo>
                    <a:pt x="20013600" y="0"/>
                  </a:lnTo>
                  <a:lnTo>
                    <a:pt x="20013600" y="1695000"/>
                  </a:lnTo>
                  <a:lnTo>
                    <a:pt x="0" y="169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0068" r="0" b="-1800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013600" cy="180930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Models and Assumptions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233487"/>
            <a:ext cx="16617339" cy="539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425" indent="-36671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used</a:t>
            </a: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  <a:r>
              <a:rPr lang="en-US" sz="3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Estimation of Distribution Algorithm</a:t>
            </a:r>
          </a:p>
          <a:p>
            <a:pPr algn="l" marL="733425" indent="-366712" lvl="1">
              <a:lnSpc>
                <a:spcPts val="4140"/>
              </a:lnSpc>
            </a:pPr>
          </a:p>
          <a:p>
            <a:pPr algn="l" marL="733425" indent="-36671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Assumption</a:t>
            </a: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 </a:t>
            </a:r>
            <a:r>
              <a:rPr lang="en-US" sz="3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Independence between route positions</a:t>
            </a:r>
          </a:p>
          <a:p>
            <a:pPr algn="l">
              <a:lnSpc>
                <a:spcPts val="4140"/>
              </a:lnSpc>
            </a:pPr>
          </a:p>
          <a:p>
            <a:pPr algn="l" marL="647700" indent="-323850" lvl="1">
              <a:lnSpc>
                <a:spcPts val="414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Justification: </a:t>
            </a:r>
            <a:r>
              <a:rPr lang="en-US" sz="30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Combinational routing choices and interacting constraints</a:t>
            </a:r>
          </a:p>
          <a:p>
            <a:pPr algn="l">
              <a:lnSpc>
                <a:spcPts val="4140"/>
              </a:lnSpc>
            </a:pPr>
            <a:r>
              <a:rPr lang="en-US" b="true" sz="30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</a:t>
            </a:r>
          </a:p>
          <a:p>
            <a:pPr algn="l">
              <a:lnSpc>
                <a:spcPts val="4140"/>
              </a:lnSpc>
            </a:pPr>
          </a:p>
          <a:p>
            <a:pPr algn="l" marL="2257425" indent="-752475" lvl="2">
              <a:lnSpc>
                <a:spcPts val="3600"/>
              </a:lnSpc>
            </a:pPr>
          </a:p>
          <a:p>
            <a:pPr algn="l" marL="2257425" indent="-752475" lvl="2">
              <a:lnSpc>
                <a:spcPts val="4140"/>
              </a:lnSpc>
            </a:pPr>
          </a:p>
          <a:p>
            <a:pPr algn="l" marL="2257425" indent="-752475" lvl="2">
              <a:lnSpc>
                <a:spcPts val="720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884346" y="3989012"/>
            <a:ext cx="6424009" cy="6221788"/>
          </a:xfrm>
          <a:custGeom>
            <a:avLst/>
            <a:gdLst/>
            <a:ahLst/>
            <a:cxnLst/>
            <a:rect r="r" b="b" t="t" l="l"/>
            <a:pathLst>
              <a:path h="6221788" w="6424009">
                <a:moveTo>
                  <a:pt x="0" y="0"/>
                </a:moveTo>
                <a:lnTo>
                  <a:pt x="6424009" y="0"/>
                </a:lnTo>
                <a:lnTo>
                  <a:pt x="6424009" y="6221788"/>
                </a:lnTo>
                <a:lnTo>
                  <a:pt x="0" y="6221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43" r="0" b="-44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872" y="-180975"/>
            <a:ext cx="17123397" cy="1271254"/>
            <a:chOff x="0" y="0"/>
            <a:chExt cx="22831196" cy="16950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31200" cy="1695000"/>
            </a:xfrm>
            <a:custGeom>
              <a:avLst/>
              <a:gdLst/>
              <a:ahLst/>
              <a:cxnLst/>
              <a:rect r="r" b="b" t="t" l="l"/>
              <a:pathLst>
                <a:path h="1695000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1695000"/>
                  </a:lnTo>
                  <a:lnTo>
                    <a:pt x="0" y="1695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2458" r="0" b="-2124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831196" cy="180930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Reasoning and Inference Logic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6448468"/>
            <a:ext cx="5881193" cy="1654102"/>
            <a:chOff x="0" y="0"/>
            <a:chExt cx="22940334" cy="64520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40335" cy="6452035"/>
            </a:xfrm>
            <a:custGeom>
              <a:avLst/>
              <a:gdLst/>
              <a:ahLst/>
              <a:cxnLst/>
              <a:rect r="r" b="b" t="t" l="l"/>
              <a:pathLst>
                <a:path h="6452035" w="22940335">
                  <a:moveTo>
                    <a:pt x="11470167" y="0"/>
                  </a:moveTo>
                  <a:cubicBezTo>
                    <a:pt x="17804521" y="0"/>
                    <a:pt x="22940335" y="1443965"/>
                    <a:pt x="22940335" y="3226018"/>
                  </a:cubicBezTo>
                  <a:cubicBezTo>
                    <a:pt x="22940335" y="5008070"/>
                    <a:pt x="17804519" y="6452035"/>
                    <a:pt x="11470167" y="6452035"/>
                  </a:cubicBezTo>
                  <a:cubicBezTo>
                    <a:pt x="5135816" y="6452035"/>
                    <a:pt x="0" y="5008070"/>
                    <a:pt x="0" y="3226018"/>
                  </a:cubicBezTo>
                  <a:cubicBezTo>
                    <a:pt x="0" y="1443965"/>
                    <a:pt x="5135815" y="0"/>
                    <a:pt x="11470167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13024" y="3778091"/>
            <a:ext cx="17480032" cy="260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Estimate marginal probability distributions from elite solutions to capture patterns of high-quality routes.</a:t>
            </a:r>
          </a:p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these learned distributions to guide probabilistic sampling and iteratively improve solution quality.</a:t>
            </a:r>
          </a:p>
          <a:p>
            <a:pPr algn="l">
              <a:lnSpc>
                <a:spcPts val="413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6150848" y="6544566"/>
            <a:ext cx="5986304" cy="1654102"/>
            <a:chOff x="0" y="0"/>
            <a:chExt cx="23350333" cy="645203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350333" cy="6452035"/>
            </a:xfrm>
            <a:custGeom>
              <a:avLst/>
              <a:gdLst/>
              <a:ahLst/>
              <a:cxnLst/>
              <a:rect r="r" b="b" t="t" l="l"/>
              <a:pathLst>
                <a:path h="6452035" w="23350333">
                  <a:moveTo>
                    <a:pt x="11675166" y="0"/>
                  </a:moveTo>
                  <a:cubicBezTo>
                    <a:pt x="18122729" y="0"/>
                    <a:pt x="23350333" y="1443965"/>
                    <a:pt x="23350333" y="3226018"/>
                  </a:cubicBezTo>
                  <a:cubicBezTo>
                    <a:pt x="23350333" y="5008070"/>
                    <a:pt x="18122728" y="6452035"/>
                    <a:pt x="11675166" y="6452035"/>
                  </a:cubicBezTo>
                  <a:cubicBezTo>
                    <a:pt x="5227605" y="6452035"/>
                    <a:pt x="0" y="5008070"/>
                    <a:pt x="0" y="3226018"/>
                  </a:cubicBezTo>
                  <a:cubicBezTo>
                    <a:pt x="0" y="1443965"/>
                    <a:pt x="5227604" y="0"/>
                    <a:pt x="1167516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74037" y="6414612"/>
            <a:ext cx="5986304" cy="1654102"/>
            <a:chOff x="0" y="0"/>
            <a:chExt cx="23350333" cy="64520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350333" cy="6452035"/>
            </a:xfrm>
            <a:custGeom>
              <a:avLst/>
              <a:gdLst/>
              <a:ahLst/>
              <a:cxnLst/>
              <a:rect r="r" b="b" t="t" l="l"/>
              <a:pathLst>
                <a:path h="6452035" w="23350333">
                  <a:moveTo>
                    <a:pt x="11675166" y="0"/>
                  </a:moveTo>
                  <a:cubicBezTo>
                    <a:pt x="18122729" y="0"/>
                    <a:pt x="23350333" y="1443965"/>
                    <a:pt x="23350333" y="3226018"/>
                  </a:cubicBezTo>
                  <a:cubicBezTo>
                    <a:pt x="23350333" y="5008070"/>
                    <a:pt x="18122728" y="6452035"/>
                    <a:pt x="11675166" y="6452035"/>
                  </a:cubicBezTo>
                  <a:cubicBezTo>
                    <a:pt x="5227605" y="6452035"/>
                    <a:pt x="0" y="5008070"/>
                    <a:pt x="0" y="3226018"/>
                  </a:cubicBezTo>
                  <a:cubicBezTo>
                    <a:pt x="0" y="1443965"/>
                    <a:pt x="5227604" y="0"/>
                    <a:pt x="1167516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01696" y="8559622"/>
            <a:ext cx="5986304" cy="1654102"/>
            <a:chOff x="0" y="0"/>
            <a:chExt cx="23350333" cy="64520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350333" cy="6452035"/>
            </a:xfrm>
            <a:custGeom>
              <a:avLst/>
              <a:gdLst/>
              <a:ahLst/>
              <a:cxnLst/>
              <a:rect r="r" b="b" t="t" l="l"/>
              <a:pathLst>
                <a:path h="6452035" w="23350333">
                  <a:moveTo>
                    <a:pt x="11675166" y="0"/>
                  </a:moveTo>
                  <a:cubicBezTo>
                    <a:pt x="18122729" y="0"/>
                    <a:pt x="23350333" y="1443965"/>
                    <a:pt x="23350333" y="3226018"/>
                  </a:cubicBezTo>
                  <a:cubicBezTo>
                    <a:pt x="23350333" y="5008070"/>
                    <a:pt x="18122728" y="6452035"/>
                    <a:pt x="11675166" y="6452035"/>
                  </a:cubicBezTo>
                  <a:cubicBezTo>
                    <a:pt x="5227605" y="6452035"/>
                    <a:pt x="0" y="5008070"/>
                    <a:pt x="0" y="3226018"/>
                  </a:cubicBezTo>
                  <a:cubicBezTo>
                    <a:pt x="0" y="1443965"/>
                    <a:pt x="5227604" y="0"/>
                    <a:pt x="1167516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681603" y="8559622"/>
            <a:ext cx="6132309" cy="1694446"/>
            <a:chOff x="0" y="0"/>
            <a:chExt cx="23350333" cy="64520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350333" cy="6452035"/>
            </a:xfrm>
            <a:custGeom>
              <a:avLst/>
              <a:gdLst/>
              <a:ahLst/>
              <a:cxnLst/>
              <a:rect r="r" b="b" t="t" l="l"/>
              <a:pathLst>
                <a:path h="6452035" w="23350333">
                  <a:moveTo>
                    <a:pt x="11675166" y="0"/>
                  </a:moveTo>
                  <a:cubicBezTo>
                    <a:pt x="18122729" y="0"/>
                    <a:pt x="23350333" y="1443965"/>
                    <a:pt x="23350333" y="3226018"/>
                  </a:cubicBezTo>
                  <a:cubicBezTo>
                    <a:pt x="23350333" y="5008070"/>
                    <a:pt x="18122728" y="6452035"/>
                    <a:pt x="11675166" y="6452035"/>
                  </a:cubicBezTo>
                  <a:cubicBezTo>
                    <a:pt x="5227605" y="6452035"/>
                    <a:pt x="0" y="5008070"/>
                    <a:pt x="0" y="3226018"/>
                  </a:cubicBezTo>
                  <a:cubicBezTo>
                    <a:pt x="0" y="1443965"/>
                    <a:pt x="5227604" y="0"/>
                    <a:pt x="1167516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328340" y="6774576"/>
            <a:ext cx="5631321" cy="11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23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calculate average travel time and variability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5802" y="6644622"/>
            <a:ext cx="5631321" cy="11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23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 chance of delay beyond a given limit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51528" y="8789632"/>
            <a:ext cx="5631321" cy="11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238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routes based on speed and reliability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475622" y="7128229"/>
            <a:ext cx="1139059" cy="243389"/>
          </a:xfrm>
          <a:custGeom>
            <a:avLst/>
            <a:gdLst/>
            <a:ahLst/>
            <a:cxnLst/>
            <a:rect r="r" b="b" t="t" l="l"/>
            <a:pathLst>
              <a:path h="243389" w="1139059">
                <a:moveTo>
                  <a:pt x="0" y="0"/>
                </a:moveTo>
                <a:lnTo>
                  <a:pt x="1139059" y="0"/>
                </a:lnTo>
                <a:lnTo>
                  <a:pt x="1139059" y="243389"/>
                </a:lnTo>
                <a:lnTo>
                  <a:pt x="0" y="243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13024" y="773039"/>
            <a:ext cx="4905018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Uncertainty Propagation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3024" y="1314821"/>
            <a:ext cx="17418673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Large combinations of stop selections and route permutations create combinatorial uncertainty.</a:t>
            </a:r>
          </a:p>
          <a:p>
            <a:pPr algn="just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Student allocation and capacity constraints affect feasibility, while probability distributions progressively reduce uncertainty across generations.</a:t>
            </a:r>
          </a:p>
          <a:p>
            <a:pPr algn="l">
              <a:lnSpc>
                <a:spcPts val="413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538220" y="3090415"/>
            <a:ext cx="754425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Role of Probabilistic Reasoning: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64077" y="5664071"/>
            <a:ext cx="7544258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Conceptual Reasoning Pathway: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105111" y="6774576"/>
            <a:ext cx="5631321" cy="11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b="true" sz="3238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travel time of each route as a random quantity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65156" y="8617769"/>
            <a:ext cx="5042559" cy="151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choosing the route with lower uncertainty and reasonable travel time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1807749" y="7128229"/>
            <a:ext cx="1139059" cy="243389"/>
          </a:xfrm>
          <a:custGeom>
            <a:avLst/>
            <a:gdLst/>
            <a:ahLst/>
            <a:cxnLst/>
            <a:rect r="r" b="b" t="t" l="l"/>
            <a:pathLst>
              <a:path h="243389" w="1139059">
                <a:moveTo>
                  <a:pt x="0" y="0"/>
                </a:moveTo>
                <a:lnTo>
                  <a:pt x="1139059" y="0"/>
                </a:lnTo>
                <a:lnTo>
                  <a:pt x="1139059" y="243389"/>
                </a:lnTo>
                <a:lnTo>
                  <a:pt x="0" y="243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302949">
            <a:off x="14725319" y="8223072"/>
            <a:ext cx="1139059" cy="243389"/>
          </a:xfrm>
          <a:custGeom>
            <a:avLst/>
            <a:gdLst/>
            <a:ahLst/>
            <a:cxnLst/>
            <a:rect r="r" b="b" t="t" l="l"/>
            <a:pathLst>
              <a:path h="243389" w="1139059">
                <a:moveTo>
                  <a:pt x="0" y="0"/>
                </a:moveTo>
                <a:lnTo>
                  <a:pt x="1139059" y="0"/>
                </a:lnTo>
                <a:lnTo>
                  <a:pt x="1139059" y="243389"/>
                </a:lnTo>
                <a:lnTo>
                  <a:pt x="0" y="2433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-10800000">
            <a:off x="10815934" y="9268281"/>
            <a:ext cx="1485762" cy="317471"/>
          </a:xfrm>
          <a:custGeom>
            <a:avLst/>
            <a:gdLst/>
            <a:ahLst/>
            <a:cxnLst/>
            <a:rect r="r" b="b" t="t" l="l"/>
            <a:pathLst>
              <a:path h="317471" w="1485762">
                <a:moveTo>
                  <a:pt x="0" y="0"/>
                </a:moveTo>
                <a:lnTo>
                  <a:pt x="1485762" y="0"/>
                </a:lnTo>
                <a:lnTo>
                  <a:pt x="1485762" y="317471"/>
                </a:lnTo>
                <a:lnTo>
                  <a:pt x="0" y="317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872" y="-180975"/>
            <a:ext cx="17123397" cy="1600140"/>
            <a:chOff x="0" y="0"/>
            <a:chExt cx="22831196" cy="2133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31200" cy="2133514"/>
            </a:xfrm>
            <a:custGeom>
              <a:avLst/>
              <a:gdLst/>
              <a:ahLst/>
              <a:cxnLst/>
              <a:rect r="r" b="b" t="t" l="l"/>
              <a:pathLst>
                <a:path h="2133514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2133514"/>
                  </a:lnTo>
                  <a:lnTo>
                    <a:pt x="0" y="213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790" r="0" b="-1482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831196" cy="2247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Operationalizing Probabilistic Reasoning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4685023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Minimize total travel time as fitness measure.</a:t>
            </a:r>
          </a:p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Population statistics reflect learned route structure.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3501" y="1091124"/>
            <a:ext cx="3626882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Slide 7 Reasoning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4663" y="1986462"/>
            <a:ext cx="17418673" cy="208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Learn marginal probability distributions from elite routes.</a:t>
            </a:r>
          </a:p>
          <a:p>
            <a:pPr algn="just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 improved routes through probabilistic sampling and iteration.</a:t>
            </a:r>
          </a:p>
          <a:p>
            <a:pPr algn="just">
              <a:lnSpc>
                <a:spcPts val="4139"/>
              </a:lnSpc>
            </a:pPr>
          </a:p>
          <a:p>
            <a:pPr algn="l">
              <a:lnSpc>
                <a:spcPts val="41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13024" y="3706677"/>
            <a:ext cx="1194554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Evaluation Metrics &amp; Probabilistic Interpretation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3501" y="6273793"/>
            <a:ext cx="5338286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Simplifying Assumptions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24" y="7445125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Independence between route positions.</a:t>
            </a:r>
          </a:p>
          <a:p>
            <a:pPr algn="l" marL="647698" indent="-323849" lvl="1">
              <a:lnSpc>
                <a:spcPts val="413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Fixed capacity and walking distance.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872" y="-180975"/>
            <a:ext cx="17123397" cy="1600140"/>
            <a:chOff x="0" y="0"/>
            <a:chExt cx="22831196" cy="2133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31200" cy="2133514"/>
            </a:xfrm>
            <a:custGeom>
              <a:avLst/>
              <a:gdLst/>
              <a:ahLst/>
              <a:cxnLst/>
              <a:rect r="r" b="b" t="t" l="l"/>
              <a:pathLst>
                <a:path h="2133514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2133514"/>
                  </a:lnTo>
                  <a:lnTo>
                    <a:pt x="0" y="213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790" r="0" b="-1482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831196" cy="2247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Current Limitations and Gaps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38220" y="4685023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Travel times treated as deterministic (no traffic uncertainty).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Student allocation fixed before routing optimization.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4382" y="1091124"/>
            <a:ext cx="3537466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Known Weakness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4382" y="1803582"/>
            <a:ext cx="1741867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Independence assumption may ignore dependencies between stop positions.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Performance may decline for very large-scale instances.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8220" y="3656169"/>
            <a:ext cx="1194554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Unverified / Questionable Assumptions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220" y="6269740"/>
            <a:ext cx="523565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Conceptual Ambiguities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3024" y="7445125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Interaction between stop selection and routing not fully modeled jointly.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Effect of population size and parameters on convergence not deeply analyzed.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872" y="-180975"/>
            <a:ext cx="17123397" cy="1600140"/>
            <a:chOff x="0" y="0"/>
            <a:chExt cx="22831196" cy="2133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31200" cy="2133514"/>
            </a:xfrm>
            <a:custGeom>
              <a:avLst/>
              <a:gdLst/>
              <a:ahLst/>
              <a:cxnLst/>
              <a:rect r="r" b="b" t="t" l="l"/>
              <a:pathLst>
                <a:path h="2133514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2133514"/>
                  </a:lnTo>
                  <a:lnTo>
                    <a:pt x="0" y="213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790" r="0" b="-1482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831196" cy="2247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Planned Refinements and Role Coordination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914408" y="2730112"/>
            <a:ext cx="6951028" cy="4348729"/>
          </a:xfrm>
          <a:custGeom>
            <a:avLst/>
            <a:gdLst/>
            <a:ahLst/>
            <a:cxnLst/>
            <a:rect r="r" b="b" t="t" l="l"/>
            <a:pathLst>
              <a:path h="4348729" w="6951028">
                <a:moveTo>
                  <a:pt x="0" y="0"/>
                </a:moveTo>
                <a:lnTo>
                  <a:pt x="6951028" y="0"/>
                </a:lnTo>
                <a:lnTo>
                  <a:pt x="6951028" y="4348729"/>
                </a:lnTo>
                <a:lnTo>
                  <a:pt x="0" y="4348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80" t="0" r="-84542" b="-337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8220" y="4685023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Explore modeling dependencies between route positions.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Analyze scalability and convergence behavior.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1091124"/>
            <a:ext cx="9278236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What Will Evolve in the Next Milestone?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4382" y="2029032"/>
            <a:ext cx="17418673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Improve probability model and experiment with parameter tuning.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Expand testing and refine route optimization performance.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8220" y="3656169"/>
            <a:ext cx="1194554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Conceptual / Modeling Tasks Ahead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9872" y="6247954"/>
            <a:ext cx="8198547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Role of Reviewer / GitHub Manager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3024" y="7445125"/>
            <a:ext cx="17480032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Create repository and add team members as collaborators.</a:t>
            </a:r>
          </a:p>
          <a:p>
            <a:pPr algn="l">
              <a:lnSpc>
                <a:spcPts val="4139"/>
              </a:lnSpc>
            </a:pPr>
            <a:r>
              <a:rPr lang="en-US" sz="29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Assign issues, review contributions, and approve pull requests.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9872" y="-180975"/>
            <a:ext cx="17123397" cy="1600140"/>
            <a:chOff x="0" y="0"/>
            <a:chExt cx="22831196" cy="21335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31200" cy="2133514"/>
            </a:xfrm>
            <a:custGeom>
              <a:avLst/>
              <a:gdLst/>
              <a:ahLst/>
              <a:cxnLst/>
              <a:rect r="r" b="b" t="t" l="l"/>
              <a:pathLst>
                <a:path h="2133514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2133514"/>
                  </a:lnTo>
                  <a:lnTo>
                    <a:pt x="0" y="213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790" r="0" b="-14823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2831196" cy="2247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Summary of Group-Level Understanding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2276475"/>
            <a:ext cx="18288000" cy="529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9"/>
              </a:lnSpc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The routing problem is modeled as a probability distribution over feasible route permutations.</a:t>
            </a:r>
          </a:p>
          <a:p>
            <a:pPr algn="l">
              <a:lnSpc>
                <a:spcPts val="7069"/>
              </a:lnSpc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Estimation of Distribution Algorithm (EDA) learns structural patterns from elite solutions instead of using random evolutionary operators.</a:t>
            </a:r>
          </a:p>
          <a:p>
            <a:pPr algn="l">
              <a:lnSpc>
                <a:spcPts val="7069"/>
              </a:lnSpc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Marginal probability distributions guide solution generation and progressively reduce uncertainty.</a:t>
            </a:r>
          </a:p>
          <a:p>
            <a:pPr algn="l">
              <a:lnSpc>
                <a:spcPts val="7069"/>
              </a:lnSpc>
            </a:pPr>
            <a:r>
              <a:rPr lang="en-US" sz="349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• Probabilistic modeling enables systematic exploration of a large combinatorial search space.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00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5949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749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91" t="-164491" r="-72201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204016" y="9427016"/>
            <a:ext cx="826646" cy="566099"/>
            <a:chOff x="0" y="0"/>
            <a:chExt cx="1102195" cy="7547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2200" cy="754800"/>
            </a:xfrm>
            <a:custGeom>
              <a:avLst/>
              <a:gdLst/>
              <a:ahLst/>
              <a:cxnLst/>
              <a:rect r="r" b="b" t="t" l="l"/>
              <a:pathLst>
                <a:path h="754800" w="1102200">
                  <a:moveTo>
                    <a:pt x="0" y="0"/>
                  </a:moveTo>
                  <a:lnTo>
                    <a:pt x="1102200" y="0"/>
                  </a:lnTo>
                  <a:lnTo>
                    <a:pt x="1102200" y="754800"/>
                  </a:lnTo>
                  <a:lnTo>
                    <a:pt x="0" y="75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3" t="0" r="-3786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02195" cy="764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7F7F7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7F7F7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‹#›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7063" y="0"/>
            <a:ext cx="17123397" cy="1600140"/>
            <a:chOff x="0" y="0"/>
            <a:chExt cx="22831196" cy="21335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831200" cy="2133514"/>
            </a:xfrm>
            <a:custGeom>
              <a:avLst/>
              <a:gdLst/>
              <a:ahLst/>
              <a:cxnLst/>
              <a:rect r="r" b="b" t="t" l="l"/>
              <a:pathLst>
                <a:path h="2133514" w="22831200">
                  <a:moveTo>
                    <a:pt x="0" y="0"/>
                  </a:moveTo>
                  <a:lnTo>
                    <a:pt x="22831200" y="0"/>
                  </a:lnTo>
                  <a:lnTo>
                    <a:pt x="22831200" y="2133514"/>
                  </a:lnTo>
                  <a:lnTo>
                    <a:pt x="0" y="21335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790" r="0" b="-1482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22831196" cy="224782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b="true" sz="6000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Reference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2066229"/>
            <a:ext cx="12482532" cy="327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3499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  <a:hlinkClick r:id="rId5" tooltip="https://www.canva.com/design/DAHAXRTEhhc/0qcWjw4GbOzgnPXuADAdbA/edit"/>
              </a:rPr>
              <a:t>Pérez-Rodríguez, R., &amp; Hernández-Aguirre, A. (2016). Probability model to solve the school bus routing problem with stops selection. </a:t>
            </a:r>
            <a:r>
              <a:rPr lang="en-US" b="true" sz="3499" u="sng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  <a:hlinkClick r:id="rId6" tooltip="https://www.canva.com/design/DAHAXRTEhhc/0qcWjw4GbOzgnPXuADAdbA/edit"/>
              </a:rPr>
              <a:t>International Journal of Combinatorial Optimization Problems and Informatics, 7(1), 30-39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DAHAO8Wvnxc</dc:identifier>
  <dcterms:modified xsi:type="dcterms:W3CDTF">2011-08-01T06:04:30Z</dcterms:modified>
  <cp:revision>1</cp:revision>
  <dc:title>CSE 400_S2_G3_ITS</dc:title>
</cp:coreProperties>
</file>